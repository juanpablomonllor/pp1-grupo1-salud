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0" r:id="rId7"/>
    <p:sldId id="263" r:id="rId8"/>
    <p:sldId id="262" r:id="rId9"/>
    <p:sldId id="264" r:id="rId10"/>
    <p:sldId id="265" r:id="rId11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5" roundtripDataSignature="AMtx7mh+ratogaAxppST0rPxiTeP0Q/jX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197B9B-B4B7-4D97-9DD8-D63E73EBD2B4}" v="10" dt="2026-06-13T23:34:25.4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731" autoAdjust="0"/>
  </p:normalViewPr>
  <p:slideViewPr>
    <p:cSldViewPr snapToGrid="0">
      <p:cViewPr varScale="1">
        <p:scale>
          <a:sx n="141" d="100"/>
          <a:sy n="141" d="100"/>
        </p:scale>
        <p:origin x="10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Pablo Monllor" userId="4fb3887f64ab2d73" providerId="LiveId" clId="{500B3561-4A97-4155-9250-7411DCC6BCCC}"/>
    <pc:docChg chg="undo custSel addSld delSld modSld sldOrd">
      <pc:chgData name="Juan Pablo Monllor" userId="4fb3887f64ab2d73" providerId="LiveId" clId="{500B3561-4A97-4155-9250-7411DCC6BCCC}" dt="2026-06-13T23:45:48.139" v="1226" actId="14100"/>
      <pc:docMkLst>
        <pc:docMk/>
      </pc:docMkLst>
      <pc:sldChg chg="modSp mod">
        <pc:chgData name="Juan Pablo Monllor" userId="4fb3887f64ab2d73" providerId="LiveId" clId="{500B3561-4A97-4155-9250-7411DCC6BCCC}" dt="2026-06-12T20:21:23.892" v="5" actId="1076"/>
        <pc:sldMkLst>
          <pc:docMk/>
          <pc:sldMk cId="0" sldId="256"/>
        </pc:sldMkLst>
        <pc:picChg chg="mod">
          <ac:chgData name="Juan Pablo Monllor" userId="4fb3887f64ab2d73" providerId="LiveId" clId="{500B3561-4A97-4155-9250-7411DCC6BCCC}" dt="2026-06-12T20:21:23.892" v="5" actId="1076"/>
          <ac:picMkLst>
            <pc:docMk/>
            <pc:sldMk cId="0" sldId="256"/>
            <ac:picMk id="5" creationId="{D2E225CD-C42B-BF20-F539-4F71BA7B15A8}"/>
          </ac:picMkLst>
        </pc:picChg>
      </pc:sldChg>
      <pc:sldChg chg="delSp modSp mod">
        <pc:chgData name="Juan Pablo Monllor" userId="4fb3887f64ab2d73" providerId="LiveId" clId="{500B3561-4A97-4155-9250-7411DCC6BCCC}" dt="2026-06-13T22:26:40.914" v="107" actId="1076"/>
        <pc:sldMkLst>
          <pc:docMk/>
          <pc:sldMk cId="0" sldId="258"/>
        </pc:sldMkLst>
        <pc:spChg chg="mod">
          <ac:chgData name="Juan Pablo Monllor" userId="4fb3887f64ab2d73" providerId="LiveId" clId="{500B3561-4A97-4155-9250-7411DCC6BCCC}" dt="2026-06-13T22:26:40.914" v="107" actId="1076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26:40.914" v="107" actId="1076"/>
          <ac:spMkLst>
            <pc:docMk/>
            <pc:sldMk cId="0" sldId="258"/>
            <ac:spMk id="65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26:40.914" v="107" actId="1076"/>
          <ac:spMkLst>
            <pc:docMk/>
            <pc:sldMk cId="0" sldId="258"/>
            <ac:spMk id="66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26:40.914" v="107" actId="1076"/>
          <ac:spMkLst>
            <pc:docMk/>
            <pc:sldMk cId="0" sldId="258"/>
            <ac:spMk id="67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2:25:42.339" v="31" actId="478"/>
          <ac:spMkLst>
            <pc:docMk/>
            <pc:sldMk cId="0" sldId="258"/>
            <ac:spMk id="68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2:25:39.857" v="28" actId="478"/>
          <ac:spMkLst>
            <pc:docMk/>
            <pc:sldMk cId="0" sldId="258"/>
            <ac:spMk id="69" creationId="{00000000-0000-0000-0000-000000000000}"/>
          </ac:spMkLst>
        </pc:spChg>
        <pc:spChg chg="del mod">
          <ac:chgData name="Juan Pablo Monllor" userId="4fb3887f64ab2d73" providerId="LiveId" clId="{500B3561-4A97-4155-9250-7411DCC6BCCC}" dt="2026-06-13T22:25:44.866" v="32" actId="478"/>
          <ac:spMkLst>
            <pc:docMk/>
            <pc:sldMk cId="0" sldId="258"/>
            <ac:spMk id="70" creationId="{00000000-0000-0000-0000-000000000000}"/>
          </ac:spMkLst>
        </pc:spChg>
        <pc:spChg chg="del mod">
          <ac:chgData name="Juan Pablo Monllor" userId="4fb3887f64ab2d73" providerId="LiveId" clId="{500B3561-4A97-4155-9250-7411DCC6BCCC}" dt="2026-06-13T22:25:46.441" v="33" actId="478"/>
          <ac:spMkLst>
            <pc:docMk/>
            <pc:sldMk cId="0" sldId="258"/>
            <ac:spMk id="71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23:20.111" v="18" actId="1076"/>
          <ac:spMkLst>
            <pc:docMk/>
            <pc:sldMk cId="0" sldId="258"/>
            <ac:spMk id="72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2T20:33:16.884" v="7" actId="478"/>
          <ac:spMkLst>
            <pc:docMk/>
            <pc:sldMk cId="0" sldId="258"/>
            <ac:spMk id="90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2T20:33:55.154" v="9" actId="478"/>
          <ac:spMkLst>
            <pc:docMk/>
            <pc:sldMk cId="0" sldId="258"/>
            <ac:spMk id="91" creationId="{00000000-0000-0000-0000-000000000000}"/>
          </ac:spMkLst>
        </pc:spChg>
        <pc:cxnChg chg="del">
          <ac:chgData name="Juan Pablo Monllor" userId="4fb3887f64ab2d73" providerId="LiveId" clId="{500B3561-4A97-4155-9250-7411DCC6BCCC}" dt="2026-06-12T20:33:18.058" v="8" actId="478"/>
          <ac:cxnSpMkLst>
            <pc:docMk/>
            <pc:sldMk cId="0" sldId="258"/>
            <ac:cxnSpMk id="89" creationId="{00000000-0000-0000-0000-000000000000}"/>
          </ac:cxnSpMkLst>
        </pc:cxnChg>
      </pc:sldChg>
      <pc:sldChg chg="addSp delSp modSp mod">
        <pc:chgData name="Juan Pablo Monllor" userId="4fb3887f64ab2d73" providerId="LiveId" clId="{500B3561-4A97-4155-9250-7411DCC6BCCC}" dt="2026-06-13T22:41:10.388" v="584" actId="1076"/>
        <pc:sldMkLst>
          <pc:docMk/>
          <pc:sldMk cId="0" sldId="259"/>
        </pc:sldMkLst>
        <pc:spChg chg="add del mod">
          <ac:chgData name="Juan Pablo Monllor" userId="4fb3887f64ab2d73" providerId="LiveId" clId="{500B3561-4A97-4155-9250-7411DCC6BCCC}" dt="2026-06-13T22:39:42.053" v="520" actId="478"/>
          <ac:spMkLst>
            <pc:docMk/>
            <pc:sldMk cId="0" sldId="259"/>
            <ac:spMk id="3" creationId="{B3388894-FDB3-D618-52E8-43A59C13AEE5}"/>
          </ac:spMkLst>
        </pc:spChg>
        <pc:spChg chg="add del mod">
          <ac:chgData name="Juan Pablo Monllor" userId="4fb3887f64ab2d73" providerId="LiveId" clId="{500B3561-4A97-4155-9250-7411DCC6BCCC}" dt="2026-06-13T22:39:43.695" v="522" actId="478"/>
          <ac:spMkLst>
            <pc:docMk/>
            <pc:sldMk cId="0" sldId="259"/>
            <ac:spMk id="5" creationId="{03CD2ED8-A7AA-6CED-5E66-6AF1E862C3F2}"/>
          </ac:spMkLst>
        </pc:spChg>
        <pc:spChg chg="add del mod">
          <ac:chgData name="Juan Pablo Monllor" userId="4fb3887f64ab2d73" providerId="LiveId" clId="{500B3561-4A97-4155-9250-7411DCC6BCCC}" dt="2026-06-13T22:39:45.571" v="524" actId="478"/>
          <ac:spMkLst>
            <pc:docMk/>
            <pc:sldMk cId="0" sldId="259"/>
            <ac:spMk id="7" creationId="{A5AC892D-57E7-7A24-C4A2-B5946A7D2E76}"/>
          </ac:spMkLst>
        </pc:spChg>
        <pc:spChg chg="add del mod ord">
          <ac:chgData name="Juan Pablo Monllor" userId="4fb3887f64ab2d73" providerId="LiveId" clId="{500B3561-4A97-4155-9250-7411DCC6BCCC}" dt="2026-06-13T22:39:42.945" v="521" actId="478"/>
          <ac:spMkLst>
            <pc:docMk/>
            <pc:sldMk cId="0" sldId="259"/>
            <ac:spMk id="9" creationId="{5EEF1B8B-77B2-0D4F-38D8-D6D19CBE9360}"/>
          </ac:spMkLst>
        </pc:spChg>
        <pc:spChg chg="mod">
          <ac:chgData name="Juan Pablo Monllor" userId="4fb3887f64ab2d73" providerId="LiveId" clId="{500B3561-4A97-4155-9250-7411DCC6BCCC}" dt="2026-06-13T22:36:49.366" v="453" actId="1076"/>
          <ac:spMkLst>
            <pc:docMk/>
            <pc:sldMk cId="0" sldId="259"/>
            <ac:spMk id="102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40:02.213" v="581" actId="1036"/>
          <ac:spMkLst>
            <pc:docMk/>
            <pc:sldMk cId="0" sldId="259"/>
            <ac:spMk id="103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40:02.213" v="581" actId="1036"/>
          <ac:spMkLst>
            <pc:docMk/>
            <pc:sldMk cId="0" sldId="259"/>
            <ac:spMk id="105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40:34.855" v="583" actId="20577"/>
          <ac:spMkLst>
            <pc:docMk/>
            <pc:sldMk cId="0" sldId="259"/>
            <ac:spMk id="106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40:02.213" v="581" actId="1036"/>
          <ac:spMkLst>
            <pc:docMk/>
            <pc:sldMk cId="0" sldId="259"/>
            <ac:spMk id="107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40:02.213" v="581" actId="1036"/>
          <ac:spMkLst>
            <pc:docMk/>
            <pc:sldMk cId="0" sldId="259"/>
            <ac:spMk id="109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40:02.213" v="581" actId="1036"/>
          <ac:spMkLst>
            <pc:docMk/>
            <pc:sldMk cId="0" sldId="259"/>
            <ac:spMk id="110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40:02.213" v="581" actId="1036"/>
          <ac:spMkLst>
            <pc:docMk/>
            <pc:sldMk cId="0" sldId="259"/>
            <ac:spMk id="111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40:02.213" v="581" actId="1036"/>
          <ac:spMkLst>
            <pc:docMk/>
            <pc:sldMk cId="0" sldId="259"/>
            <ac:spMk id="113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40:02.213" v="581" actId="1036"/>
          <ac:spMkLst>
            <pc:docMk/>
            <pc:sldMk cId="0" sldId="259"/>
            <ac:spMk id="114" creationId="{00000000-0000-0000-0000-000000000000}"/>
          </ac:spMkLst>
        </pc:spChg>
        <pc:spChg chg="del mod">
          <ac:chgData name="Juan Pablo Monllor" userId="4fb3887f64ab2d73" providerId="LiveId" clId="{500B3561-4A97-4155-9250-7411DCC6BCCC}" dt="2026-06-13T22:30:45.597" v="231" actId="478"/>
          <ac:spMkLst>
            <pc:docMk/>
            <pc:sldMk cId="0" sldId="259"/>
            <ac:spMk id="115" creationId="{00000000-0000-0000-0000-000000000000}"/>
          </ac:spMkLst>
        </pc:spChg>
        <pc:picChg chg="add del mod">
          <ac:chgData name="Juan Pablo Monllor" userId="4fb3887f64ab2d73" providerId="LiveId" clId="{500B3561-4A97-4155-9250-7411DCC6BCCC}" dt="2026-06-13T22:34:11.905" v="280" actId="478"/>
          <ac:picMkLst>
            <pc:docMk/>
            <pc:sldMk cId="0" sldId="259"/>
            <ac:picMk id="11" creationId="{2BA6E877-5FAF-7398-06A2-B21BB3610A98}"/>
          </ac:picMkLst>
        </pc:picChg>
        <pc:picChg chg="add del mod">
          <ac:chgData name="Juan Pablo Monllor" userId="4fb3887f64ab2d73" providerId="LiveId" clId="{500B3561-4A97-4155-9250-7411DCC6BCCC}" dt="2026-06-13T22:34:20.741" v="284" actId="478"/>
          <ac:picMkLst>
            <pc:docMk/>
            <pc:sldMk cId="0" sldId="259"/>
            <ac:picMk id="13" creationId="{6F576378-014F-320A-BBB5-7F217146D0A4}"/>
          </ac:picMkLst>
        </pc:picChg>
        <pc:picChg chg="add mod">
          <ac:chgData name="Juan Pablo Monllor" userId="4fb3887f64ab2d73" providerId="LiveId" clId="{500B3561-4A97-4155-9250-7411DCC6BCCC}" dt="2026-06-13T22:41:10.388" v="584" actId="1076"/>
          <ac:picMkLst>
            <pc:docMk/>
            <pc:sldMk cId="0" sldId="259"/>
            <ac:picMk id="15" creationId="{F8B1DF17-61AA-C234-0648-FAF56995AE04}"/>
          </ac:picMkLst>
        </pc:picChg>
        <pc:picChg chg="del mod">
          <ac:chgData name="Juan Pablo Monllor" userId="4fb3887f64ab2d73" providerId="LiveId" clId="{500B3561-4A97-4155-9250-7411DCC6BCCC}" dt="2026-06-13T22:27:10.991" v="108" actId="478"/>
          <ac:picMkLst>
            <pc:docMk/>
            <pc:sldMk cId="0" sldId="259"/>
            <ac:picMk id="101" creationId="{00000000-0000-0000-0000-000000000000}"/>
          </ac:picMkLst>
        </pc:picChg>
        <pc:picChg chg="mod">
          <ac:chgData name="Juan Pablo Monllor" userId="4fb3887f64ab2d73" providerId="LiveId" clId="{500B3561-4A97-4155-9250-7411DCC6BCCC}" dt="2026-06-13T22:29:45.236" v="158" actId="1038"/>
          <ac:picMkLst>
            <pc:docMk/>
            <pc:sldMk cId="0" sldId="259"/>
            <ac:picMk id="104" creationId="{00000000-0000-0000-0000-000000000000}"/>
          </ac:picMkLst>
        </pc:picChg>
        <pc:picChg chg="mod">
          <ac:chgData name="Juan Pablo Monllor" userId="4fb3887f64ab2d73" providerId="LiveId" clId="{500B3561-4A97-4155-9250-7411DCC6BCCC}" dt="2026-06-13T22:40:02.213" v="581" actId="1036"/>
          <ac:picMkLst>
            <pc:docMk/>
            <pc:sldMk cId="0" sldId="259"/>
            <ac:picMk id="108" creationId="{00000000-0000-0000-0000-000000000000}"/>
          </ac:picMkLst>
        </pc:picChg>
        <pc:picChg chg="mod">
          <ac:chgData name="Juan Pablo Monllor" userId="4fb3887f64ab2d73" providerId="LiveId" clId="{500B3561-4A97-4155-9250-7411DCC6BCCC}" dt="2026-06-13T22:29:45.236" v="158" actId="1038"/>
          <ac:picMkLst>
            <pc:docMk/>
            <pc:sldMk cId="0" sldId="259"/>
            <ac:picMk id="112" creationId="{00000000-0000-0000-0000-000000000000}"/>
          </ac:picMkLst>
        </pc:picChg>
      </pc:sldChg>
      <pc:sldChg chg="addSp delSp modSp mod">
        <pc:chgData name="Juan Pablo Monllor" userId="4fb3887f64ab2d73" providerId="LiveId" clId="{500B3561-4A97-4155-9250-7411DCC6BCCC}" dt="2026-06-13T23:45:48.139" v="1226" actId="14100"/>
        <pc:sldMkLst>
          <pc:docMk/>
          <pc:sldMk cId="0" sldId="260"/>
        </pc:sldMkLst>
        <pc:spChg chg="mod">
          <ac:chgData name="Juan Pablo Monllor" userId="4fb3887f64ab2d73" providerId="LiveId" clId="{500B3561-4A97-4155-9250-7411DCC6BCCC}" dt="2026-06-13T23:45:17.471" v="1220" actId="1076"/>
          <ac:spMkLst>
            <pc:docMk/>
            <pc:sldMk cId="0" sldId="260"/>
            <ac:spMk id="125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45:17.471" v="1220" actId="1076"/>
          <ac:spMkLst>
            <pc:docMk/>
            <pc:sldMk cId="0" sldId="260"/>
            <ac:spMk id="126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45:17.471" v="1220" actId="1076"/>
          <ac:spMkLst>
            <pc:docMk/>
            <pc:sldMk cId="0" sldId="260"/>
            <ac:spMk id="127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3.879" v="1208" actId="478"/>
          <ac:spMkLst>
            <pc:docMk/>
            <pc:sldMk cId="0" sldId="260"/>
            <ac:spMk id="128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7.247" v="1210" actId="478"/>
          <ac:spMkLst>
            <pc:docMk/>
            <pc:sldMk cId="0" sldId="260"/>
            <ac:spMk id="129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7.247" v="1210" actId="478"/>
          <ac:spMkLst>
            <pc:docMk/>
            <pc:sldMk cId="0" sldId="260"/>
            <ac:spMk id="130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4.778" v="1209" actId="478"/>
          <ac:spMkLst>
            <pc:docMk/>
            <pc:sldMk cId="0" sldId="260"/>
            <ac:spMk id="131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7.247" v="1210" actId="478"/>
          <ac:spMkLst>
            <pc:docMk/>
            <pc:sldMk cId="0" sldId="260"/>
            <ac:spMk id="132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7.247" v="1210" actId="478"/>
          <ac:spMkLst>
            <pc:docMk/>
            <pc:sldMk cId="0" sldId="260"/>
            <ac:spMk id="133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7.247" v="1210" actId="478"/>
          <ac:spMkLst>
            <pc:docMk/>
            <pc:sldMk cId="0" sldId="260"/>
            <ac:spMk id="134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7.247" v="1210" actId="478"/>
          <ac:spMkLst>
            <pc:docMk/>
            <pc:sldMk cId="0" sldId="260"/>
            <ac:spMk id="139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7.247" v="1210" actId="478"/>
          <ac:spMkLst>
            <pc:docMk/>
            <pc:sldMk cId="0" sldId="260"/>
            <ac:spMk id="140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7.247" v="1210" actId="478"/>
          <ac:spMkLst>
            <pc:docMk/>
            <pc:sldMk cId="0" sldId="260"/>
            <ac:spMk id="141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7.247" v="1210" actId="478"/>
          <ac:spMkLst>
            <pc:docMk/>
            <pc:sldMk cId="0" sldId="260"/>
            <ac:spMk id="142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44:17.247" v="1210" actId="478"/>
          <ac:spMkLst>
            <pc:docMk/>
            <pc:sldMk cId="0" sldId="260"/>
            <ac:spMk id="143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2:44:40.088" v="585" actId="478"/>
          <ac:spMkLst>
            <pc:docMk/>
            <pc:sldMk cId="0" sldId="260"/>
            <ac:spMk id="144" creationId="{00000000-0000-0000-0000-000000000000}"/>
          </ac:spMkLst>
        </pc:spChg>
        <pc:picChg chg="add mod">
          <ac:chgData name="Juan Pablo Monllor" userId="4fb3887f64ab2d73" providerId="LiveId" clId="{500B3561-4A97-4155-9250-7411DCC6BCCC}" dt="2026-06-13T23:45:48.139" v="1226" actId="14100"/>
          <ac:picMkLst>
            <pc:docMk/>
            <pc:sldMk cId="0" sldId="260"/>
            <ac:picMk id="3" creationId="{07EF982C-FDD8-4E05-1C55-775677C5E8AA}"/>
          </ac:picMkLst>
        </pc:picChg>
        <pc:picChg chg="del">
          <ac:chgData name="Juan Pablo Monllor" userId="4fb3887f64ab2d73" providerId="LiveId" clId="{500B3561-4A97-4155-9250-7411DCC6BCCC}" dt="2026-06-13T22:44:48.472" v="586" actId="478"/>
          <ac:picMkLst>
            <pc:docMk/>
            <pc:sldMk cId="0" sldId="260"/>
            <ac:picMk id="124" creationId="{00000000-0000-0000-0000-000000000000}"/>
          </ac:picMkLst>
        </pc:picChg>
      </pc:sldChg>
      <pc:sldChg chg="addSp delSp modSp mod ord">
        <pc:chgData name="Juan Pablo Monllor" userId="4fb3887f64ab2d73" providerId="LiveId" clId="{500B3561-4A97-4155-9250-7411DCC6BCCC}" dt="2026-06-13T23:09:29.195" v="934"/>
        <pc:sldMkLst>
          <pc:docMk/>
          <pc:sldMk cId="0" sldId="261"/>
        </pc:sldMkLst>
        <pc:spChg chg="mod">
          <ac:chgData name="Juan Pablo Monllor" userId="4fb3887f64ab2d73" providerId="LiveId" clId="{500B3561-4A97-4155-9250-7411DCC6BCCC}" dt="2026-06-13T23:00:43.957" v="902" actId="14100"/>
          <ac:spMkLst>
            <pc:docMk/>
            <pc:sldMk cId="0" sldId="261"/>
            <ac:spMk id="155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0:38.175" v="901" actId="1037"/>
          <ac:spMkLst>
            <pc:docMk/>
            <pc:sldMk cId="0" sldId="261"/>
            <ac:spMk id="156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0:47.084" v="903" actId="14100"/>
          <ac:spMkLst>
            <pc:docMk/>
            <pc:sldMk cId="0" sldId="261"/>
            <ac:spMk id="158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0:50.024" v="904" actId="14100"/>
          <ac:spMkLst>
            <pc:docMk/>
            <pc:sldMk cId="0" sldId="261"/>
            <ac:spMk id="159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0:38.175" v="901" actId="1037"/>
          <ac:spMkLst>
            <pc:docMk/>
            <pc:sldMk cId="0" sldId="261"/>
            <ac:spMk id="160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0:53.002" v="905" actId="14100"/>
          <ac:spMkLst>
            <pc:docMk/>
            <pc:sldMk cId="0" sldId="261"/>
            <ac:spMk id="162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0:55.717" v="906" actId="14100"/>
          <ac:spMkLst>
            <pc:docMk/>
            <pc:sldMk cId="0" sldId="261"/>
            <ac:spMk id="163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59:54.396" v="830" actId="14100"/>
          <ac:spMkLst>
            <pc:docMk/>
            <pc:sldMk cId="0" sldId="261"/>
            <ac:spMk id="164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0:59.414" v="907" actId="14100"/>
          <ac:spMkLst>
            <pc:docMk/>
            <pc:sldMk cId="0" sldId="261"/>
            <ac:spMk id="166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0:38.175" v="901" actId="1037"/>
          <ac:spMkLst>
            <pc:docMk/>
            <pc:sldMk cId="0" sldId="261"/>
            <ac:spMk id="167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1:42.174" v="914" actId="14100"/>
          <ac:spMkLst>
            <pc:docMk/>
            <pc:sldMk cId="0" sldId="261"/>
            <ac:spMk id="168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1:05.190" v="908" actId="14100"/>
          <ac:spMkLst>
            <pc:docMk/>
            <pc:sldMk cId="0" sldId="261"/>
            <ac:spMk id="169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01:08.047" v="909" actId="14100"/>
          <ac:spMkLst>
            <pc:docMk/>
            <pc:sldMk cId="0" sldId="261"/>
            <ac:spMk id="170" creationId="{00000000-0000-0000-0000-000000000000}"/>
          </ac:spMkLst>
        </pc:spChg>
        <pc:grpChg chg="add mod">
          <ac:chgData name="Juan Pablo Monllor" userId="4fb3887f64ab2d73" providerId="LiveId" clId="{500B3561-4A97-4155-9250-7411DCC6BCCC}" dt="2026-06-13T23:08:46.350" v="932" actId="1076"/>
          <ac:grpSpMkLst>
            <pc:docMk/>
            <pc:sldMk cId="0" sldId="261"/>
            <ac:grpSpMk id="6" creationId="{0E63E129-D97E-2B5F-26E6-1CFB8E883B04}"/>
          </ac:grpSpMkLst>
        </pc:grpChg>
        <pc:picChg chg="add mod">
          <ac:chgData name="Juan Pablo Monllor" userId="4fb3887f64ab2d73" providerId="LiveId" clId="{500B3561-4A97-4155-9250-7411DCC6BCCC}" dt="2026-06-13T23:08:10.658" v="927" actId="164"/>
          <ac:picMkLst>
            <pc:docMk/>
            <pc:sldMk cId="0" sldId="261"/>
            <ac:picMk id="3" creationId="{9411469E-467C-D81D-B8A6-0843EF18C298}"/>
          </ac:picMkLst>
        </pc:picChg>
        <pc:picChg chg="add mod">
          <ac:chgData name="Juan Pablo Monllor" userId="4fb3887f64ab2d73" providerId="LiveId" clId="{500B3561-4A97-4155-9250-7411DCC6BCCC}" dt="2026-06-13T23:08:10.658" v="927" actId="164"/>
          <ac:picMkLst>
            <pc:docMk/>
            <pc:sldMk cId="0" sldId="261"/>
            <ac:picMk id="5" creationId="{CCFBF018-2241-0B38-2CA8-DB2E104AEBF2}"/>
          </ac:picMkLst>
        </pc:picChg>
        <pc:picChg chg="del">
          <ac:chgData name="Juan Pablo Monllor" userId="4fb3887f64ab2d73" providerId="LiveId" clId="{500B3561-4A97-4155-9250-7411DCC6BCCC}" dt="2026-06-13T22:59:16.963" v="823" actId="478"/>
          <ac:picMkLst>
            <pc:docMk/>
            <pc:sldMk cId="0" sldId="261"/>
            <ac:picMk id="153" creationId="{00000000-0000-0000-0000-000000000000}"/>
          </ac:picMkLst>
        </pc:picChg>
        <pc:picChg chg="del">
          <ac:chgData name="Juan Pablo Monllor" userId="4fb3887f64ab2d73" providerId="LiveId" clId="{500B3561-4A97-4155-9250-7411DCC6BCCC}" dt="2026-06-13T22:59:16.234" v="822" actId="478"/>
          <ac:picMkLst>
            <pc:docMk/>
            <pc:sldMk cId="0" sldId="261"/>
            <ac:picMk id="154" creationId="{00000000-0000-0000-0000-000000000000}"/>
          </ac:picMkLst>
        </pc:picChg>
      </pc:sldChg>
      <pc:sldChg chg="addSp delSp modSp mod">
        <pc:chgData name="Juan Pablo Monllor" userId="4fb3887f64ab2d73" providerId="LiveId" clId="{500B3561-4A97-4155-9250-7411DCC6BCCC}" dt="2026-06-13T23:23:57.887" v="1037" actId="20577"/>
        <pc:sldMkLst>
          <pc:docMk/>
          <pc:sldMk cId="0" sldId="262"/>
        </pc:sldMkLst>
        <pc:spChg chg="mod">
          <ac:chgData name="Juan Pablo Monllor" userId="4fb3887f64ab2d73" providerId="LiveId" clId="{500B3561-4A97-4155-9250-7411DCC6BCCC}" dt="2026-06-13T23:20:06.960" v="1008" actId="1037"/>
          <ac:spMkLst>
            <pc:docMk/>
            <pc:sldMk cId="0" sldId="262"/>
            <ac:spMk id="180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0:06.960" v="1008" actId="1037"/>
          <ac:spMkLst>
            <pc:docMk/>
            <pc:sldMk cId="0" sldId="262"/>
            <ac:spMk id="181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0:06.960" v="1008" actId="1037"/>
          <ac:spMkLst>
            <pc:docMk/>
            <pc:sldMk cId="0" sldId="262"/>
            <ac:spMk id="182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0:06.960" v="1008" actId="1037"/>
          <ac:spMkLst>
            <pc:docMk/>
            <pc:sldMk cId="0" sldId="262"/>
            <ac:spMk id="183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0:11.661" v="1009" actId="14100"/>
          <ac:spMkLst>
            <pc:docMk/>
            <pc:sldMk cId="0" sldId="262"/>
            <ac:spMk id="185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3:07.850" v="1031" actId="20577"/>
          <ac:spMkLst>
            <pc:docMk/>
            <pc:sldMk cId="0" sldId="262"/>
            <ac:spMk id="186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0:06.960" v="1008" actId="1037"/>
          <ac:spMkLst>
            <pc:docMk/>
            <pc:sldMk cId="0" sldId="262"/>
            <ac:spMk id="187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0:20.923" v="1012" actId="14100"/>
          <ac:spMkLst>
            <pc:docMk/>
            <pc:sldMk cId="0" sldId="262"/>
            <ac:spMk id="189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3:57.887" v="1037" actId="20577"/>
          <ac:spMkLst>
            <pc:docMk/>
            <pc:sldMk cId="0" sldId="262"/>
            <ac:spMk id="190" creationId="{00000000-0000-0000-0000-000000000000}"/>
          </ac:spMkLst>
        </pc:spChg>
        <pc:spChg chg="del">
          <ac:chgData name="Juan Pablo Monllor" userId="4fb3887f64ab2d73" providerId="LiveId" clId="{500B3561-4A97-4155-9250-7411DCC6BCCC}" dt="2026-06-13T23:18:29.374" v="944" actId="478"/>
          <ac:spMkLst>
            <pc:docMk/>
            <pc:sldMk cId="0" sldId="262"/>
            <ac:spMk id="191" creationId="{00000000-0000-0000-0000-000000000000}"/>
          </ac:spMkLst>
        </pc:spChg>
        <pc:picChg chg="add del mod">
          <ac:chgData name="Juan Pablo Monllor" userId="4fb3887f64ab2d73" providerId="LiveId" clId="{500B3561-4A97-4155-9250-7411DCC6BCCC}" dt="2026-06-13T23:18:26.373" v="943" actId="478"/>
          <ac:picMkLst>
            <pc:docMk/>
            <pc:sldMk cId="0" sldId="262"/>
            <ac:picMk id="3" creationId="{0B6732A2-9BB9-A98F-2C03-B0A9A1223E11}"/>
          </ac:picMkLst>
        </pc:picChg>
        <pc:picChg chg="add mod modCrop">
          <ac:chgData name="Juan Pablo Monllor" userId="4fb3887f64ab2d73" providerId="LiveId" clId="{500B3561-4A97-4155-9250-7411DCC6BCCC}" dt="2026-06-13T23:21:57.686" v="1025" actId="14100"/>
          <ac:picMkLst>
            <pc:docMk/>
            <pc:sldMk cId="0" sldId="262"/>
            <ac:picMk id="5" creationId="{859501FA-83DD-3F64-B4BC-7BB1C4116B4C}"/>
          </ac:picMkLst>
        </pc:picChg>
        <pc:picChg chg="add mod modCrop">
          <ac:chgData name="Juan Pablo Monllor" userId="4fb3887f64ab2d73" providerId="LiveId" clId="{500B3561-4A97-4155-9250-7411DCC6BCCC}" dt="2026-06-13T23:21:54.227" v="1024" actId="1076"/>
          <ac:picMkLst>
            <pc:docMk/>
            <pc:sldMk cId="0" sldId="262"/>
            <ac:picMk id="7" creationId="{D8F4C1F1-4634-782E-0F73-5BE0242F3A3A}"/>
          </ac:picMkLst>
        </pc:picChg>
        <pc:picChg chg="del">
          <ac:chgData name="Juan Pablo Monllor" userId="4fb3887f64ab2d73" providerId="LiveId" clId="{500B3561-4A97-4155-9250-7411DCC6BCCC}" dt="2026-06-13T23:14:58.768" v="935" actId="478"/>
          <ac:picMkLst>
            <pc:docMk/>
            <pc:sldMk cId="0" sldId="262"/>
            <ac:picMk id="179" creationId="{00000000-0000-0000-0000-000000000000}"/>
          </ac:picMkLst>
        </pc:picChg>
        <pc:picChg chg="mod">
          <ac:chgData name="Juan Pablo Monllor" userId="4fb3887f64ab2d73" providerId="LiveId" clId="{500B3561-4A97-4155-9250-7411DCC6BCCC}" dt="2026-06-13T23:20:06.960" v="1008" actId="1037"/>
          <ac:picMkLst>
            <pc:docMk/>
            <pc:sldMk cId="0" sldId="262"/>
            <ac:picMk id="184" creationId="{00000000-0000-0000-0000-000000000000}"/>
          </ac:picMkLst>
        </pc:picChg>
      </pc:sldChg>
      <pc:sldChg chg="addSp delSp modSp mod ord modNotes">
        <pc:chgData name="Juan Pablo Monllor" userId="4fb3887f64ab2d73" providerId="LiveId" clId="{500B3561-4A97-4155-9250-7411DCC6BCCC}" dt="2026-06-13T22:58:25.937" v="821" actId="1076"/>
        <pc:sldMkLst>
          <pc:docMk/>
          <pc:sldMk cId="0" sldId="263"/>
        </pc:sldMkLst>
        <pc:spChg chg="mod">
          <ac:chgData name="Juan Pablo Monllor" userId="4fb3887f64ab2d73" providerId="LiveId" clId="{500B3561-4A97-4155-9250-7411DCC6BCCC}" dt="2026-06-13T22:57:57.894" v="815" actId="1037"/>
          <ac:spMkLst>
            <pc:docMk/>
            <pc:sldMk cId="0" sldId="263"/>
            <ac:spMk id="201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58:08.019" v="817" actId="14100"/>
          <ac:spMkLst>
            <pc:docMk/>
            <pc:sldMk cId="0" sldId="263"/>
            <ac:spMk id="202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58:04.253" v="816" actId="14100"/>
          <ac:spMkLst>
            <pc:docMk/>
            <pc:sldMk cId="0" sldId="263"/>
            <ac:spMk id="203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57:57.894" v="815" actId="1037"/>
          <ac:spMkLst>
            <pc:docMk/>
            <pc:sldMk cId="0" sldId="263"/>
            <ac:spMk id="204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58:11.110" v="818" actId="14100"/>
          <ac:spMkLst>
            <pc:docMk/>
            <pc:sldMk cId="0" sldId="263"/>
            <ac:spMk id="205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2:58:13.225" v="819" actId="14100"/>
          <ac:spMkLst>
            <pc:docMk/>
            <pc:sldMk cId="0" sldId="263"/>
            <ac:spMk id="206" creationId="{00000000-0000-0000-0000-000000000000}"/>
          </ac:spMkLst>
        </pc:spChg>
        <pc:picChg chg="add mod">
          <ac:chgData name="Juan Pablo Monllor" userId="4fb3887f64ab2d73" providerId="LiveId" clId="{500B3561-4A97-4155-9250-7411DCC6BCCC}" dt="2026-06-13T22:58:25.937" v="821" actId="1076"/>
          <ac:picMkLst>
            <pc:docMk/>
            <pc:sldMk cId="0" sldId="263"/>
            <ac:picMk id="3" creationId="{04E05802-35F7-663B-2C56-6AC78B7B9149}"/>
          </ac:picMkLst>
        </pc:picChg>
        <pc:picChg chg="del">
          <ac:chgData name="Juan Pablo Monllor" userId="4fb3887f64ab2d73" providerId="LiveId" clId="{500B3561-4A97-4155-9250-7411DCC6BCCC}" dt="2026-06-13T22:53:03.304" v="605" actId="478"/>
          <ac:picMkLst>
            <pc:docMk/>
            <pc:sldMk cId="0" sldId="263"/>
            <ac:picMk id="200" creationId="{00000000-0000-0000-0000-000000000000}"/>
          </ac:picMkLst>
        </pc:picChg>
      </pc:sldChg>
      <pc:sldChg chg="addSp modSp mod">
        <pc:chgData name="Juan Pablo Monllor" userId="4fb3887f64ab2d73" providerId="LiveId" clId="{500B3561-4A97-4155-9250-7411DCC6BCCC}" dt="2026-06-13T23:34:46.961" v="1205" actId="6549"/>
        <pc:sldMkLst>
          <pc:docMk/>
          <pc:sldMk cId="0" sldId="264"/>
        </pc:sldMkLst>
        <pc:spChg chg="add">
          <ac:chgData name="Juan Pablo Monllor" userId="4fb3887f64ab2d73" providerId="LiveId" clId="{500B3561-4A97-4155-9250-7411DCC6BCCC}" dt="2026-06-13T23:34:09.293" v="1199"/>
          <ac:spMkLst>
            <pc:docMk/>
            <pc:sldMk cId="0" sldId="264"/>
            <ac:spMk id="2" creationId="{28FB5D5F-5065-0D28-D0EF-3405453229ED}"/>
          </ac:spMkLst>
        </pc:spChg>
        <pc:spChg chg="add">
          <ac:chgData name="Juan Pablo Monllor" userId="4fb3887f64ab2d73" providerId="LiveId" clId="{500B3561-4A97-4155-9250-7411DCC6BCCC}" dt="2026-06-13T23:34:19.851" v="1200"/>
          <ac:spMkLst>
            <pc:docMk/>
            <pc:sldMk cId="0" sldId="264"/>
            <ac:spMk id="3" creationId="{005D3EB8-483E-359E-C1F9-7704A0948393}"/>
          </ac:spMkLst>
        </pc:spChg>
        <pc:spChg chg="add">
          <ac:chgData name="Juan Pablo Monllor" userId="4fb3887f64ab2d73" providerId="LiveId" clId="{500B3561-4A97-4155-9250-7411DCC6BCCC}" dt="2026-06-13T23:34:23.895" v="1201"/>
          <ac:spMkLst>
            <pc:docMk/>
            <pc:sldMk cId="0" sldId="264"/>
            <ac:spMk id="4" creationId="{A5E1DD88-19F7-4520-9BA9-8F9A7EE4C455}"/>
          </ac:spMkLst>
        </pc:spChg>
        <pc:spChg chg="mod">
          <ac:chgData name="Juan Pablo Monllor" userId="4fb3887f64ab2d73" providerId="LiveId" clId="{500B3561-4A97-4155-9250-7411DCC6BCCC}" dt="2026-06-13T23:30:42.879" v="1169" actId="1076"/>
          <ac:spMkLst>
            <pc:docMk/>
            <pc:sldMk cId="0" sldId="264"/>
            <ac:spMk id="212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37.678" v="1167" actId="14100"/>
          <ac:spMkLst>
            <pc:docMk/>
            <pc:sldMk cId="0" sldId="264"/>
            <ac:spMk id="215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5:11.876" v="1089" actId="20577"/>
          <ac:spMkLst>
            <pc:docMk/>
            <pc:sldMk cId="0" sldId="264"/>
            <ac:spMk id="218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5:42.838" v="1097" actId="20577"/>
          <ac:spMkLst>
            <pc:docMk/>
            <pc:sldMk cId="0" sldId="264"/>
            <ac:spMk id="219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55.288" v="1197" actId="1076"/>
          <ac:spMkLst>
            <pc:docMk/>
            <pc:sldMk cId="0" sldId="264"/>
            <ac:spMk id="220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55.288" v="1197" actId="1076"/>
          <ac:spMkLst>
            <pc:docMk/>
            <pc:sldMk cId="0" sldId="264"/>
            <ac:spMk id="221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55.288" v="1197" actId="1076"/>
          <ac:spMkLst>
            <pc:docMk/>
            <pc:sldMk cId="0" sldId="264"/>
            <ac:spMk id="222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55.288" v="1197" actId="1076"/>
          <ac:spMkLst>
            <pc:docMk/>
            <pc:sldMk cId="0" sldId="264"/>
            <ac:spMk id="223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55.288" v="1197" actId="1076"/>
          <ac:spMkLst>
            <pc:docMk/>
            <pc:sldMk cId="0" sldId="264"/>
            <ac:spMk id="224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35.384" v="1166" actId="14100"/>
          <ac:spMkLst>
            <pc:docMk/>
            <pc:sldMk cId="0" sldId="264"/>
            <ac:spMk id="225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27:07.139" v="1125" actId="20577"/>
          <ac:spMkLst>
            <pc:docMk/>
            <pc:sldMk cId="0" sldId="264"/>
            <ac:spMk id="229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55.288" v="1197" actId="1076"/>
          <ac:spMkLst>
            <pc:docMk/>
            <pc:sldMk cId="0" sldId="264"/>
            <ac:spMk id="230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55.288" v="1197" actId="1076"/>
          <ac:spMkLst>
            <pc:docMk/>
            <pc:sldMk cId="0" sldId="264"/>
            <ac:spMk id="231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55.288" v="1197" actId="1076"/>
          <ac:spMkLst>
            <pc:docMk/>
            <pc:sldMk cId="0" sldId="264"/>
            <ac:spMk id="232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55.288" v="1197" actId="1076"/>
          <ac:spMkLst>
            <pc:docMk/>
            <pc:sldMk cId="0" sldId="264"/>
            <ac:spMk id="233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0:55.288" v="1197" actId="1076"/>
          <ac:spMkLst>
            <pc:docMk/>
            <pc:sldMk cId="0" sldId="264"/>
            <ac:spMk id="234" creationId="{00000000-0000-0000-0000-000000000000}"/>
          </ac:spMkLst>
        </pc:spChg>
        <pc:spChg chg="mod">
          <ac:chgData name="Juan Pablo Monllor" userId="4fb3887f64ab2d73" providerId="LiveId" clId="{500B3561-4A97-4155-9250-7411DCC6BCCC}" dt="2026-06-13T23:34:46.961" v="1205" actId="6549"/>
          <ac:spMkLst>
            <pc:docMk/>
            <pc:sldMk cId="0" sldId="264"/>
            <ac:spMk id="239" creationId="{00000000-0000-0000-0000-000000000000}"/>
          </ac:spMkLst>
        </pc:spChg>
      </pc:sldChg>
      <pc:sldChg chg="modSp mod">
        <pc:chgData name="Juan Pablo Monllor" userId="4fb3887f64ab2d73" providerId="LiveId" clId="{500B3561-4A97-4155-9250-7411DCC6BCCC}" dt="2026-06-12T20:21:49.491" v="6" actId="1076"/>
        <pc:sldMkLst>
          <pc:docMk/>
          <pc:sldMk cId="0" sldId="265"/>
        </pc:sldMkLst>
        <pc:picChg chg="mod">
          <ac:chgData name="Juan Pablo Monllor" userId="4fb3887f64ab2d73" providerId="LiveId" clId="{500B3561-4A97-4155-9250-7411DCC6BCCC}" dt="2026-06-12T20:21:49.491" v="6" actId="1076"/>
          <ac:picMkLst>
            <pc:docMk/>
            <pc:sldMk cId="0" sldId="265"/>
            <ac:picMk id="3" creationId="{4C83566B-D0F1-B855-2C63-F6AA3C45B2EF}"/>
          </ac:picMkLst>
        </pc:picChg>
      </pc:sldChg>
      <pc:sldChg chg="new del">
        <pc:chgData name="Juan Pablo Monllor" userId="4fb3887f64ab2d73" providerId="LiveId" clId="{500B3561-4A97-4155-9250-7411DCC6BCCC}" dt="2026-06-13T23:39:45.312" v="1207" actId="2696"/>
        <pc:sldMkLst>
          <pc:docMk/>
          <pc:sldMk cId="480945524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PORTADA — ACT 1: CONTEXTO</a:t>
            </a:r>
            <a:b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Arrancar con una pregunta directa a la audiencia: '¿Cuántos casos de dengue creen que hubo en Argentina en los últimos 4 años?'</a:t>
            </a:r>
            <a:b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Revelar: 748.000. Eso es lo que el sistema de salud tuvo que procesar.</a:t>
            </a:r>
            <a:b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objetivo de esta presentación es mostrar QUÉ dicen los datos — no qué debería hacer el sistema, solo qué muestra la evidencia.</a:t>
            </a:r>
            <a:endParaRPr/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CONTEXTO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Explicar brevemente qué es SNVS 2.0 si la audiencia no lo conoce.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Enfatizar que este es un análisis DESCRIPTIVO — no causal, no prescriptivo.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 que vamos a mostrar es 'lo que los datos dicen', no 'lo que el sistema de salud debería hacer'.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Eso es intencional y metodológicamente correcto para el nivel de datos disponibles.</a:t>
            </a:r>
            <a:endParaRPr/>
          </a:p>
        </p:txBody>
      </p:sp>
      <p:sp>
        <p:nvSpPr>
          <p:cNvPr id="32" name="Google Shape;32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" name="Google Shape;54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CONFLICTO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salto de 2022 a 2024 es el elemento de tensión central de la presentación.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 1.500 casos a 582.000 en dos años — eso es ×390.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2025 baja porque el dataset está truncado al inicio del año, no porque el dengue desapareció.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Este slide responde implícitamente la pregunta: ¿por qué vale la pena analizar esto?</a:t>
            </a:r>
            <a:endParaRPr/>
          </a:p>
        </p:txBody>
      </p:sp>
      <p:sp>
        <p:nvSpPr>
          <p:cNvPr id="55" name="Google Shape;55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ANÁLISIS TEMPORAL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pico semanas 12-14 es uno de los hallazgos más sólidos del proyecto porque es consistente en 4 años.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Temperatura media de 18-23°C y humedad 70-91% coinciden temporalmente con ese pico (ver slide de clima).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Lenguaje correcto: 'coincide temporalmente con' — no 'es causado por'.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dashboard es interactivo — en la presentación real se puede filtrar por año.</a:t>
            </a:r>
            <a:endParaRPr/>
          </a:p>
        </p:txBody>
      </p:sp>
      <p:sp>
        <p:nvSpPr>
          <p:cNvPr id="96" name="Google Shape;96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7" name="Google Shape;147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ANÁLISIS CLIMÁTICO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 heatmaps de Vega-Lite en Deneb son interactivos — se puede filtrar por provincia y variable.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lenguaje correcto es 'coincidencia temporal observable' o 'relación observable entre'.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Nunca: 'el calor causa dengue' o 'las precipitaciones generan el pico'.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Limitación conocida: datos SMN de marzo 2025 incompletos (archivos PF).</a:t>
            </a:r>
            <a:endParaRPr/>
          </a:p>
        </p:txBody>
      </p:sp>
      <p:sp>
        <p:nvSpPr>
          <p:cNvPr id="148" name="Google Shape;148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ANÁLISIS GEOGRÁFICO 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Este es uno de los hallazgos más contraintuitivos y más valiosos del proyecto.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Sin normalizar por población, Buenos Aires 'parece' el problema más grave.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Cuando normalizamos: Tucumán tiene una tasa 9 veces mayor — el norte es el foco real.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Este fue exactamente el tipo de análisis que recomendó el epidemiólogo externo.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mapa de burbujas en el dashboard es interactivo — se puede filtrar por año y provincia.</a:t>
            </a:r>
            <a:endParaRPr/>
          </a:p>
        </p:txBody>
      </p:sp>
      <p:sp>
        <p:nvSpPr>
          <p:cNvPr id="119" name="Google Shape;119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DEMOGRAFÍA VS INCIDENCIA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Este slide cierra el análisis descriptivo mostrando lo que NO explica el dengue.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 densidad no es el factor diferenciador — el factor geográfico/climático del norte argentino sí parece serlo.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Nuevamente: lenguaje descriptivo. 'Parece ser' o 'se observa asociación con' — no afirmaciones causales.</a:t>
            </a:r>
            <a:endParaRPr/>
          </a:p>
        </p:txBody>
      </p:sp>
      <p:sp>
        <p:nvSpPr>
          <p:cNvPr id="195" name="Google Shape;195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3" name="Google Shape;173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ANÁLISIS GRUPO ETARIO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Dato clave: el dataset RENAPER cubre solo enero-abril 2024, no el año completo.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Eso significa que los totales de este dashboard son menores a los del dataset principal — es una limitación conocida.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toggle tasa/absolutos en el dashboard permite que la audiencia compare las dos lecturas en vivo.</a:t>
            </a:r>
            <a:endParaRPr/>
          </a:p>
        </p:txBody>
      </p:sp>
      <p:sp>
        <p:nvSpPr>
          <p:cNvPr id="174" name="Google Shape;174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9" name="Google Shape;209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HALLAZGOS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Este slide es la respuesta a la pregunta guía de la slide 2.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Todos los hallazgos están enmarcados en lenguaje descriptivo/observacional.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 alguien pregunta '¿qué debería hacer el sistema de salud?', la respuesta es: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'Eso está fuera del alcance de este análisis descriptivo. Lo que podemos decir es lo que los datos muestran.'</a:t>
            </a:r>
            <a:endParaRPr/>
          </a:p>
        </p:txBody>
      </p:sp>
      <p:sp>
        <p:nvSpPr>
          <p:cNvPr id="210" name="Google Shape;210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2" name="Google Shape;242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RESOLUCIÓN — CIERRE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Volver al principio: empezamos preguntando '¿qué patrones son observables?'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Este slide responde exactamente eso, en tres enunciados claros y enmarcados descriptivamente.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 la audiencia pide el dashboard para explorar: está disponible en Power BI interactivo.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Recordatorio final: no recomendar acciones de política de salud — solo describir lo que los datos muestran.</a:t>
            </a:r>
            <a:endParaRPr/>
          </a:p>
        </p:txBody>
      </p:sp>
      <p:sp>
        <p:nvSpPr>
          <p:cNvPr id="243" name="Google Shape;243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Google Shape;12;p1"/>
          <p:cNvCxnSpPr/>
          <p:nvPr/>
        </p:nvCxnSpPr>
        <p:spPr>
          <a:xfrm>
            <a:off x="6217920" y="-731520"/>
            <a:ext cx="4114800" cy="4114800"/>
          </a:xfrm>
          <a:prstGeom prst="straightConnector1">
            <a:avLst/>
          </a:prstGeom>
          <a:solidFill>
            <a:srgbClr val="1B3A6B">
              <a:alpha val="40000"/>
            </a:srgbClr>
          </a:solidFill>
          <a:ln w="12700" cap="flat" cmpd="sng">
            <a:solidFill>
              <a:srgbClr val="1B3A6B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" name="Google Shape;13;p1"/>
          <p:cNvCxnSpPr/>
          <p:nvPr/>
        </p:nvCxnSpPr>
        <p:spPr>
          <a:xfrm>
            <a:off x="6858000" y="2286000"/>
            <a:ext cx="2743200" cy="2743200"/>
          </a:xfrm>
          <a:prstGeom prst="straightConnector1">
            <a:avLst/>
          </a:prstGeom>
          <a:solidFill>
            <a:srgbClr val="2563A8">
              <a:alpha val="25098"/>
            </a:srgbClr>
          </a:solidFill>
          <a:ln w="12700" cap="flat" cmpd="sng">
            <a:solidFill>
              <a:srgbClr val="2563A8">
                <a:alpha val="25098"/>
              </a:srgbClr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" name="Google Shape;14;p1"/>
          <p:cNvCxnSpPr/>
          <p:nvPr/>
        </p:nvCxnSpPr>
        <p:spPr>
          <a:xfrm>
            <a:off x="-914400" y="3200400"/>
            <a:ext cx="2286000" cy="2286000"/>
          </a:xfrm>
          <a:prstGeom prst="straightConnector1">
            <a:avLst/>
          </a:prstGeom>
          <a:solidFill>
            <a:srgbClr val="1B3A6B">
              <a:alpha val="30196"/>
            </a:srgbClr>
          </a:solidFill>
          <a:ln w="12700" cap="flat" cmpd="sng">
            <a:solidFill>
              <a:srgbClr val="1B3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5" name="Google Shape;15;p1" descr="preencoded.png"/>
          <p:cNvPicPr preferRelativeResize="0"/>
          <p:nvPr/>
        </p:nvPicPr>
        <p:blipFill rotWithShape="1">
          <a:blip r:embed="rId3">
            <a:alphaModFix amt="30000"/>
          </a:blip>
          <a:srcRect/>
          <a:stretch/>
        </p:blipFill>
        <p:spPr>
          <a:xfrm>
            <a:off x="5875689" y="1379736"/>
            <a:ext cx="108000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"/>
          <p:cNvSpPr/>
          <p:nvPr/>
        </p:nvSpPr>
        <p:spPr>
          <a:xfrm>
            <a:off x="457200" y="41148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E8A020"/>
                </a:solidFill>
                <a:latin typeface="Arial"/>
                <a:ea typeface="Arial"/>
                <a:cs typeface="Arial"/>
                <a:sym typeface="Arial"/>
              </a:rPr>
              <a:t>PRÁCTICAS PROFESIONALIZANTES I — EQUIPO 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822960"/>
            <a:ext cx="658368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Monitoreo Epidemiológico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 Dengue en Argentina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274320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2022 – 2025 · Análisis descriptivo multidimensional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29184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1B3A6B">
              <a:alpha val="70196"/>
            </a:srgbClr>
          </a:solidFill>
          <a:ln w="12700" cap="flat" cmpd="sng">
            <a:solidFill>
              <a:srgbClr val="E8A0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310128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2200"/>
              <a:buFont typeface="Calibri"/>
              <a:buNone/>
            </a:pPr>
            <a:r>
              <a:rPr lang="en-US" sz="2200" b="1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748 mil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" y="365760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casos totales registrados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788920" y="329184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1B3A6B">
              <a:alpha val="70196"/>
            </a:srgbClr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2788920" y="3310128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 años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788920" y="365760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de vigilancia epidemiológica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5120640" y="329184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1B3A6B">
              <a:alpha val="70196"/>
            </a:srgbClr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5120640" y="3310128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24 provincias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5120640" y="365760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bajo análisis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Arial"/>
              <a:buNone/>
            </a:pPr>
            <a:r>
              <a:rPr lang="en-US" sz="800" dirty="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Datos: SNVS 2.0 · RENAPER · SMN   |   </a:t>
            </a:r>
            <a:r>
              <a:rPr lang="en-US" sz="800" dirty="0" err="1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Herramienta</a:t>
            </a:r>
            <a:r>
              <a:rPr lang="en-US" sz="800" dirty="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: Power BI</a:t>
            </a: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225CD-C42B-BF20-F539-4F71BA7B15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5729" y="0"/>
            <a:ext cx="1868271" cy="18682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11480" y="73152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Contexto: ¿Qué problema estamos mirando?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8A020"/>
                </a:solidFill>
                <a:latin typeface="Arial"/>
                <a:ea typeface="Arial"/>
                <a:cs typeface="Arial"/>
                <a:sym typeface="Arial"/>
              </a:rPr>
              <a:t>El desequilibrio que motiva el análisis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411480" y="1143000"/>
            <a:ext cx="8321040" cy="960120"/>
          </a:xfrm>
          <a:prstGeom prst="roundRect">
            <a:avLst>
              <a:gd name="adj" fmla="val 7619"/>
            </a:avLst>
          </a:prstGeom>
          <a:solidFill>
            <a:srgbClr val="1B3A6B"/>
          </a:solidFill>
          <a:ln>
            <a:noFill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594360" y="1188720"/>
            <a:ext cx="795528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patrones epidemiológicos son observables en la evolución del dengue en Argentina entre 2022 y 2025?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11480" y="2267712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63040" y="239572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2"/>
          <p:cNvSpPr/>
          <p:nvPr/>
        </p:nvSpPr>
        <p:spPr>
          <a:xfrm>
            <a:off x="411480" y="2944368"/>
            <a:ext cx="26060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¿Cuándo?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548640" y="3310128"/>
            <a:ext cx="23317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Evolución temporal semana a semana, 2022–2025. ¿Hay un patrón estacional repetible?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3218688" y="2267712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70248" y="239572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"/>
          <p:cNvSpPr/>
          <p:nvPr/>
        </p:nvSpPr>
        <p:spPr>
          <a:xfrm>
            <a:off x="3218688" y="2944368"/>
            <a:ext cx="26060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¿Dónde?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3355848" y="3310128"/>
            <a:ext cx="23317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Distribución geográfica provincial. ¿Qué muestra la tasa de incidencia vs. el volumen absoluto?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6025896" y="2267712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" name="Google Shape;48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77456" y="239572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2"/>
          <p:cNvSpPr/>
          <p:nvPr/>
        </p:nvSpPr>
        <p:spPr>
          <a:xfrm>
            <a:off x="6025896" y="2944368"/>
            <a:ext cx="26060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¿A quién?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6163056" y="3310128"/>
            <a:ext cx="23317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Impacto por grupo etario. ¿Qué edad tiene mayor tasa de incidencia real?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411480" y="4663440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Arial"/>
              <a:buNone/>
            </a:pPr>
            <a:r>
              <a:rPr lang="en-US" sz="800" i="1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Fuentes: SNVS 2.0 (casos) · RENAPER (población) · SMN (clima)  |  Período: semanas epidemiológicas 1–52, 2022–2025  |  Alcance: análisis descriptivo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411480" y="73152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Conflicto: La magnitud del brote 2024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8A020"/>
                </a:solidFill>
                <a:latin typeface="Arial"/>
                <a:ea typeface="Arial"/>
                <a:cs typeface="Arial"/>
                <a:sym typeface="Arial"/>
              </a:rPr>
              <a:t>Lo que los datos muestran sobre la escala del fenómeno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11480" y="1097280"/>
            <a:ext cx="1920240" cy="137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11480" y="1170432"/>
            <a:ext cx="1920240" cy="754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3600"/>
              <a:buFont typeface="Calibri"/>
              <a:buNone/>
            </a:pPr>
            <a:r>
              <a:rPr lang="en-US" sz="36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748 mil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11480" y="189280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2563A8"/>
                </a:solidFill>
                <a:latin typeface="Arial"/>
                <a:ea typeface="Arial"/>
                <a:cs typeface="Arial"/>
                <a:sym typeface="Arial"/>
              </a:rPr>
              <a:t>Casos totales 2022–2025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411480" y="2221992"/>
            <a:ext cx="192024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acumulado histórico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3566160" y="1110906"/>
            <a:ext cx="1920240" cy="137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3566160" y="1184058"/>
            <a:ext cx="1920240" cy="754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3600"/>
              <a:buFont typeface="Calibri"/>
              <a:buNone/>
            </a:pPr>
            <a:r>
              <a:rPr lang="en-US" sz="36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582 mil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3566160" y="1906434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1100"/>
              <a:buFont typeface="Arial"/>
              <a:buNone/>
            </a:pPr>
            <a:r>
              <a:rPr lang="en-US" sz="1100" dirty="0">
                <a:solidFill>
                  <a:srgbClr val="2563A8"/>
                </a:solidFill>
                <a:latin typeface="Arial"/>
                <a:ea typeface="Arial"/>
                <a:cs typeface="Arial"/>
                <a:sym typeface="Arial"/>
              </a:rPr>
              <a:t>Solo </a:t>
            </a:r>
            <a:r>
              <a:rPr lang="en-US" sz="1100" dirty="0" err="1">
                <a:solidFill>
                  <a:srgbClr val="2563A8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100" dirty="0">
                <a:solidFill>
                  <a:srgbClr val="2563A8"/>
                </a:solidFill>
                <a:latin typeface="Arial"/>
                <a:ea typeface="Arial"/>
                <a:cs typeface="Arial"/>
                <a:sym typeface="Arial"/>
              </a:rPr>
              <a:t> 2024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3566160" y="2235618"/>
            <a:ext cx="192024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78% del total </a:t>
            </a:r>
            <a:r>
              <a:rPr lang="en-US" sz="900" dirty="0" err="1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900" dirty="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 un </a:t>
            </a:r>
            <a:r>
              <a:rPr lang="en-US" sz="900" dirty="0" err="1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año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6720840" y="1097280"/>
            <a:ext cx="1920240" cy="137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583680" y="1170432"/>
            <a:ext cx="1920240" cy="754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3600"/>
              <a:buFont typeface="Calibri"/>
              <a:buNone/>
            </a:pPr>
            <a:r>
              <a:rPr lang="en-US" sz="36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390% 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583680" y="189280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2563A8"/>
                </a:solidFill>
                <a:latin typeface="Arial"/>
                <a:ea typeface="Arial"/>
                <a:cs typeface="Arial"/>
                <a:sym typeface="Arial"/>
              </a:rPr>
              <a:t>Escala 2022→2024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6583680" y="2221992"/>
            <a:ext cx="192024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de 1.500 a 582.000 casos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411480" y="2633472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Evolución por año — el problema que crece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777240" y="4297680"/>
            <a:ext cx="1188720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502920" y="4005072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 mil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502920" y="4389120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2834640" y="4000500"/>
            <a:ext cx="1188720" cy="342900"/>
          </a:xfrm>
          <a:prstGeom prst="rect">
            <a:avLst/>
          </a:prstGeom>
          <a:solidFill>
            <a:srgbClr val="2563A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2560320" y="3707892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2563A8"/>
                </a:solidFill>
                <a:latin typeface="Calibri"/>
                <a:ea typeface="Calibri"/>
                <a:cs typeface="Calibri"/>
                <a:sym typeface="Calibri"/>
              </a:rPr>
              <a:t>147 mil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2560320" y="4389120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4892040" y="2971800"/>
            <a:ext cx="1188720" cy="1371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4617720" y="2679192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582 mil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4617720" y="4389120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6949440" y="4297680"/>
            <a:ext cx="1188720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6675120" y="4005072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18 mil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6675120" y="4389120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6675125" y="1533925"/>
            <a:ext cx="276600" cy="274200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411480" y="73152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 Temporal 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8A020"/>
                </a:solidFill>
                <a:latin typeface="Arial"/>
                <a:ea typeface="Arial"/>
                <a:cs typeface="Arial"/>
                <a:sym typeface="Arial"/>
              </a:rPr>
              <a:t>Evolución semanal 2022–2025 · Pico sistemático semanas 12–14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6562231" y="1012704"/>
            <a:ext cx="248672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300"/>
              <a:buFont typeface="Calibri"/>
              <a:buNone/>
            </a:pPr>
            <a:r>
              <a:rPr lang="en-US" sz="13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Hallazgos</a:t>
            </a:r>
            <a:r>
              <a:rPr lang="en-US" sz="13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observables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6554595" y="1322947"/>
            <a:ext cx="2486728" cy="896112"/>
          </a:xfrm>
          <a:prstGeom prst="roundRect">
            <a:avLst>
              <a:gd name="adj" fmla="val 8163"/>
            </a:avLst>
          </a:prstGeom>
          <a:solidFill>
            <a:srgbClr val="F7F9FC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19187" y="1405239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4"/>
          <p:cNvSpPr/>
          <p:nvPr/>
        </p:nvSpPr>
        <p:spPr>
          <a:xfrm>
            <a:off x="7121523" y="1450963"/>
            <a:ext cx="2240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lang="en-US" sz="11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Pico Sem. 12–14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6719187" y="1780147"/>
            <a:ext cx="232213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pico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epidémico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se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repite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semanas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000" dirty="0">
              <a:solidFill>
                <a:srgbClr val="1E293B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12 a 14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4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años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analizados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Patrón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consistente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6554594" y="2310499"/>
            <a:ext cx="2486729" cy="896112"/>
          </a:xfrm>
          <a:prstGeom prst="roundRect">
            <a:avLst>
              <a:gd name="adj" fmla="val 8163"/>
            </a:avLst>
          </a:prstGeom>
          <a:solidFill>
            <a:srgbClr val="F7F9FC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8" name="Google Shape;108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19187" y="2475091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4"/>
          <p:cNvSpPr/>
          <p:nvPr/>
        </p:nvSpPr>
        <p:spPr>
          <a:xfrm>
            <a:off x="7121523" y="2438515"/>
            <a:ext cx="2240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lang="en-US" sz="11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2024 </a:t>
            </a:r>
            <a:r>
              <a:rPr lang="en-US" sz="11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concentra</a:t>
            </a:r>
            <a:r>
              <a:rPr lang="en-US" sz="11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el</a:t>
            </a:r>
            <a:r>
              <a:rPr lang="en-US" sz="11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78%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6719187" y="2767699"/>
            <a:ext cx="232213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582 mil de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748 mil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totales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se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concentran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un solo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año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6554595" y="3298051"/>
            <a:ext cx="2486728" cy="896112"/>
          </a:xfrm>
          <a:prstGeom prst="roundRect">
            <a:avLst>
              <a:gd name="adj" fmla="val 8163"/>
            </a:avLst>
          </a:prstGeom>
          <a:solidFill>
            <a:srgbClr val="F7F9FC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19187" y="3462643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4"/>
          <p:cNvSpPr/>
          <p:nvPr/>
        </p:nvSpPr>
        <p:spPr>
          <a:xfrm>
            <a:off x="7121523" y="3426067"/>
            <a:ext cx="2240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lang="en-US" sz="11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Semana </a:t>
            </a:r>
            <a:r>
              <a:rPr lang="en-US" sz="11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pico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6719187" y="3755251"/>
            <a:ext cx="232213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2024 SE12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hubo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72 mil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8B1DF17-61AA-C234-0648-FAF56995AE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7" y="1605755"/>
            <a:ext cx="6472299" cy="26713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411480" y="73152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 Climático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8A020"/>
                </a:solidFill>
                <a:latin typeface="Arial"/>
                <a:ea typeface="Arial"/>
                <a:cs typeface="Arial"/>
                <a:sym typeface="Arial"/>
              </a:rPr>
              <a:t>Relación temporal entre clima y casos en 2024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6601534" y="1078992"/>
            <a:ext cx="2542466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200"/>
              <a:buFont typeface="Calibri"/>
              <a:buNone/>
            </a:pPr>
            <a:r>
              <a:rPr lang="en-US" sz="12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Condiciones</a:t>
            </a:r>
            <a:r>
              <a:rPr lang="en-US" sz="12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observadas</a:t>
            </a:r>
            <a:r>
              <a:rPr lang="en-US" sz="12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12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Sem. 12–14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6601534" y="1463040"/>
            <a:ext cx="2400667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20406" y="152704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6"/>
          <p:cNvSpPr/>
          <p:nvPr/>
        </p:nvSpPr>
        <p:spPr>
          <a:xfrm>
            <a:off x="7067878" y="1508760"/>
            <a:ext cx="1934323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Temperatura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7067878" y="1737360"/>
            <a:ext cx="193432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18–23°C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6601534" y="2212848"/>
            <a:ext cx="2400667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20406" y="227685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6"/>
          <p:cNvSpPr/>
          <p:nvPr/>
        </p:nvSpPr>
        <p:spPr>
          <a:xfrm>
            <a:off x="7067878" y="2258568"/>
            <a:ext cx="1934323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Humedad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7067878" y="2487168"/>
            <a:ext cx="193432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70–91%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6601534" y="2962656"/>
            <a:ext cx="2400667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6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20406" y="3026664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6"/>
          <p:cNvSpPr/>
          <p:nvPr/>
        </p:nvSpPr>
        <p:spPr>
          <a:xfrm>
            <a:off x="7067878" y="3008376"/>
            <a:ext cx="1934323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Precipitaciones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7067878" y="3236976"/>
            <a:ext cx="193432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Significativas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semanas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previas al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pico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6601534" y="3767327"/>
            <a:ext cx="2400667" cy="1093173"/>
          </a:xfrm>
          <a:prstGeom prst="roundRect">
            <a:avLst>
              <a:gd name="adj" fmla="val 6250"/>
            </a:avLst>
          </a:prstGeom>
          <a:solidFill>
            <a:srgbClr val="1B3A6B"/>
          </a:solidFill>
          <a:ln>
            <a:noFill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6738694" y="3822192"/>
            <a:ext cx="226350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000"/>
              <a:buFont typeface="Calibri"/>
              <a:buNone/>
            </a:pPr>
            <a:r>
              <a:rPr lang="en-US" sz="1000" b="1" dirty="0" err="1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Límite</a:t>
            </a:r>
            <a:r>
              <a:rPr lang="en-US" sz="1000" b="1" dirty="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metodológico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6738694" y="4114800"/>
            <a:ext cx="2263507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Los heatmaps </a:t>
            </a: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muestran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coincidencia</a:t>
            </a:r>
            <a:endParaRPr lang="en-US" sz="900" dirty="0">
              <a:solidFill>
                <a:srgbClr val="E8EDF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temporal entre </a:t>
            </a: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. No se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900"/>
              <a:buFont typeface="Arial"/>
              <a:buNone/>
            </a:pP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establece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relación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causal — </a:t>
            </a: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eso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requeriría</a:t>
            </a:r>
            <a:endParaRPr lang="en-US" sz="900" dirty="0">
              <a:solidFill>
                <a:srgbClr val="E8EDF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900"/>
              <a:buFont typeface="Arial"/>
              <a:buNone/>
            </a:pP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modelos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adicionales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fuera del </a:t>
            </a: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alcance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900"/>
              <a:buFont typeface="Arial"/>
              <a:buNone/>
            </a:pP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este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proyecto</a:t>
            </a:r>
            <a:r>
              <a:rPr lang="en-US" sz="90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E63E129-D97E-2B5F-26E6-1CFB8E883B04}"/>
              </a:ext>
            </a:extLst>
          </p:cNvPr>
          <p:cNvGrpSpPr/>
          <p:nvPr/>
        </p:nvGrpSpPr>
        <p:grpSpPr>
          <a:xfrm>
            <a:off x="650030" y="1078992"/>
            <a:ext cx="5486717" cy="4014689"/>
            <a:chOff x="77920" y="1401874"/>
            <a:chExt cx="4934166" cy="361038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411469E-467C-D81D-B8A6-0843EF18C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7920" y="1401874"/>
              <a:ext cx="4934166" cy="248394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CFBF018-2241-0B38-2CA8-DB2E104AE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7920" y="3885822"/>
              <a:ext cx="4934166" cy="112643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411480" y="73152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 Geográfico 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8A020"/>
                </a:solidFill>
              </a:rPr>
              <a:t>Distribución territorial </a:t>
            </a:r>
            <a:r>
              <a:rPr lang="en-US" sz="1200">
                <a:solidFill>
                  <a:srgbClr val="E8A020"/>
                </a:solidFill>
                <a:latin typeface="Arial"/>
                <a:ea typeface="Arial"/>
                <a:cs typeface="Arial"/>
                <a:sym typeface="Arial"/>
              </a:rPr>
              <a:t>entre volumen absoluto y tasa de incidencia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7181556" y="1147630"/>
            <a:ext cx="1913748" cy="758836"/>
          </a:xfrm>
          <a:prstGeom prst="roundRect">
            <a:avLst>
              <a:gd name="adj" fmla="val 5333"/>
            </a:avLst>
          </a:prstGeom>
          <a:solidFill>
            <a:srgbClr val="1B3A6B"/>
          </a:solidFill>
          <a:ln>
            <a:noFill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7318716" y="1229819"/>
            <a:ext cx="17116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100"/>
              <a:buFont typeface="Calibri"/>
              <a:buNone/>
            </a:pPr>
            <a:r>
              <a:rPr lang="en-US" sz="1100" b="1" dirty="0" err="1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Distribucion</a:t>
            </a:r>
            <a:r>
              <a:rPr lang="en-US" sz="1100" b="1" dirty="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 territorial  clave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7318716" y="1531571"/>
            <a:ext cx="1711660" cy="30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Bs. As.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lidera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000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absolutos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(121 mil)</a:t>
            </a:r>
            <a:r>
              <a:rPr lang="en-US" sz="1000" dirty="0">
                <a:solidFill>
                  <a:srgbClr val="FFFFFF"/>
                </a:solidFill>
              </a:rPr>
              <a:t>.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EF982C-FDD8-4E05-1C55-775677C5E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24" y="1160324"/>
            <a:ext cx="7003004" cy="39318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411480" y="73152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Demografía vs. Incidencia 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8A020"/>
                </a:solidFill>
                <a:latin typeface="Arial"/>
                <a:ea typeface="Arial"/>
                <a:cs typeface="Arial"/>
                <a:sym typeface="Arial"/>
              </a:rPr>
              <a:t>La densidad poblacional no explica el dengue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6412968" y="1078992"/>
            <a:ext cx="267724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6550128" y="1143000"/>
            <a:ext cx="254008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Lo </a:t>
            </a:r>
            <a:r>
              <a:rPr lang="en-US" sz="12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que</a:t>
            </a:r>
            <a:r>
              <a:rPr lang="en-US" sz="12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muestra</a:t>
            </a:r>
            <a:r>
              <a:rPr lang="en-US" sz="12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el</a:t>
            </a:r>
            <a:r>
              <a:rPr lang="en-US" sz="12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scatter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6550128" y="1463040"/>
            <a:ext cx="2540089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b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CABA y Bs. As.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alta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densidad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(42–77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hab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/km²),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tasa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baja.</a:t>
            </a:r>
            <a:b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000" b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Tucumán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densidad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media (76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hab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/km²),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tasa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6.300.</a:t>
            </a:r>
            <a:b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000" b="1" dirty="0">
                <a:solidFill>
                  <a:srgbClr val="E8A020"/>
                </a:solidFill>
                <a:latin typeface="Arial"/>
                <a:ea typeface="Arial"/>
                <a:cs typeface="Arial"/>
                <a:sym typeface="Arial"/>
              </a:rPr>
              <a:t>→ </a:t>
            </a:r>
            <a:r>
              <a:rPr lang="en-US" sz="10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No hay </a:t>
            </a:r>
            <a:r>
              <a:rPr lang="en-US" sz="10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correlación</a:t>
            </a:r>
            <a:r>
              <a:rPr lang="en-US" sz="10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directa</a:t>
            </a:r>
            <a:r>
              <a:rPr lang="en-US" sz="10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entre </a:t>
            </a:r>
            <a:r>
              <a:rPr lang="en-US" sz="10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densidad</a:t>
            </a:r>
            <a:endParaRPr lang="en-US" sz="1000" i="1" dirty="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0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tasa</a:t>
            </a:r>
            <a:r>
              <a:rPr lang="en-US" sz="10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0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incidencia</a:t>
            </a:r>
            <a:r>
              <a:rPr lang="en-US" sz="10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6412968" y="3017520"/>
            <a:ext cx="2677249" cy="1417320"/>
          </a:xfrm>
          <a:prstGeom prst="roundRect">
            <a:avLst>
              <a:gd name="adj" fmla="val 4516"/>
            </a:avLst>
          </a:prstGeom>
          <a:solidFill>
            <a:srgbClr val="F7F9FC"/>
          </a:solidFill>
          <a:ln w="12700" cap="flat" cmpd="sng">
            <a:solidFill>
              <a:srgbClr val="E8A020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6550128" y="3081528"/>
            <a:ext cx="25483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Explicación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del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texto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del dashboard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6550128" y="3383280"/>
            <a:ext cx="2540089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“Las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provincias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del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norte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concentran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los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valores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más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altos,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mientras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que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las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más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densas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como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lvl="0">
              <a:buClr>
                <a:srgbClr val="1E293B"/>
              </a:buClr>
              <a:buSzPts val="900"/>
            </a:pP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CABA y Buenos Aires,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registran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tasas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i="1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bajas</a:t>
            </a:r>
            <a: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.”</a:t>
            </a:r>
            <a:b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900" i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900" b="1" dirty="0">
                <a:solidFill>
                  <a:srgbClr val="E8A020"/>
                </a:solidFill>
              </a:rPr>
              <a:t>→ </a:t>
            </a:r>
            <a:r>
              <a:rPr lang="en-US" sz="900" i="1" dirty="0">
                <a:solidFill>
                  <a:srgbClr val="1E293B"/>
                </a:solidFill>
              </a:rPr>
              <a:t>El dataset </a:t>
            </a:r>
            <a:r>
              <a:rPr lang="en-US" sz="900" i="1" dirty="0" err="1">
                <a:solidFill>
                  <a:srgbClr val="1E293B"/>
                </a:solidFill>
              </a:rPr>
              <a:t>como</a:t>
            </a:r>
            <a:r>
              <a:rPr lang="en-US" sz="900" i="1" dirty="0">
                <a:solidFill>
                  <a:srgbClr val="1E293B"/>
                </a:solidFill>
              </a:rPr>
              <a:t> a CABA </a:t>
            </a:r>
            <a:r>
              <a:rPr lang="en-US" sz="900" i="1" dirty="0" err="1">
                <a:solidFill>
                  <a:srgbClr val="1E293B"/>
                </a:solidFill>
              </a:rPr>
              <a:t>como</a:t>
            </a:r>
            <a:r>
              <a:rPr lang="en-US" sz="900" i="1" dirty="0">
                <a:solidFill>
                  <a:srgbClr val="1E293B"/>
                </a:solidFill>
              </a:rPr>
              <a:t> </a:t>
            </a:r>
            <a:r>
              <a:rPr lang="en-US" sz="900" i="1" dirty="0" err="1">
                <a:solidFill>
                  <a:srgbClr val="1E293B"/>
                </a:solidFill>
              </a:rPr>
              <a:t>una</a:t>
            </a:r>
            <a:r>
              <a:rPr lang="en-US" sz="900" i="1" dirty="0">
                <a:solidFill>
                  <a:srgbClr val="1E293B"/>
                </a:solidFill>
              </a:rPr>
              <a:t> provincial</a:t>
            </a:r>
          </a:p>
          <a:p>
            <a:pPr lvl="0">
              <a:buClr>
                <a:srgbClr val="1E293B"/>
              </a:buClr>
              <a:buSzPts val="900"/>
            </a:pPr>
            <a:r>
              <a:rPr lang="en-US" sz="900" i="1" dirty="0" err="1">
                <a:solidFill>
                  <a:srgbClr val="1E293B"/>
                </a:solidFill>
              </a:rPr>
              <a:t>más</a:t>
            </a:r>
            <a:r>
              <a:rPr lang="en-US" sz="900" i="1" dirty="0">
                <a:solidFill>
                  <a:srgbClr val="1E293B"/>
                </a:solidFill>
              </a:rPr>
              <a:t>.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E05802-35F7-663B-2C56-6AC78B7B91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0" y="1615742"/>
            <a:ext cx="6359185" cy="25840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411480" y="73152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Impacto por Grupo Etario 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8A020"/>
                </a:solidFill>
                <a:latin typeface="Arial"/>
                <a:ea typeface="Arial"/>
                <a:cs typeface="Arial"/>
                <a:sym typeface="Arial"/>
              </a:rPr>
              <a:t>La edad absoluta vs. tasa de incidencia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6525252" y="1113222"/>
            <a:ext cx="2564964" cy="1481328"/>
          </a:xfrm>
          <a:prstGeom prst="roundRect">
            <a:avLst>
              <a:gd name="adj" fmla="val 4938"/>
            </a:avLst>
          </a:prstGeom>
          <a:solidFill>
            <a:srgbClr val="1B3A6B"/>
          </a:solidFill>
          <a:ln>
            <a:noFill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6662412" y="1177230"/>
            <a:ext cx="24278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100"/>
              <a:buFont typeface="Calibri"/>
              <a:buNone/>
            </a:pPr>
            <a:r>
              <a:rPr lang="en-US" sz="1100" b="1" dirty="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Segunda </a:t>
            </a:r>
            <a:r>
              <a:rPr lang="en-US" sz="1100" b="1" dirty="0" err="1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distribución</a:t>
            </a:r>
            <a:r>
              <a:rPr lang="en-US" sz="1100" b="1" dirty="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 observable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6662412" y="1478982"/>
            <a:ext cx="2427804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Casos </a:t>
            </a:r>
            <a:r>
              <a:rPr lang="en-US" sz="1000" b="1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absolutos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000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lidera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45–65 </a:t>
            </a:r>
            <a:r>
              <a:rPr lang="en-US" sz="1000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años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(163k)</a:t>
            </a:r>
            <a:b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100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Tasa de </a:t>
            </a:r>
            <a:r>
              <a:rPr lang="en-US" sz="1000" b="1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incidencia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000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lidera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25–34 </a:t>
            </a:r>
            <a:r>
              <a:rPr lang="en-US" sz="1000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años</a:t>
            </a:r>
            <a:b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000" i="1" dirty="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lang="en-US" sz="1000" i="1" dirty="0" err="1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mismo</a:t>
            </a:r>
            <a:r>
              <a:rPr lang="en-US" sz="1000" i="1" dirty="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i="1" dirty="0" err="1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patrón</a:t>
            </a:r>
            <a:r>
              <a:rPr lang="en-US" sz="1000" i="1" dirty="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i="1" dirty="0" err="1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que</a:t>
            </a:r>
            <a:r>
              <a:rPr lang="en-US" sz="1000" i="1" dirty="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i="1" dirty="0" err="1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provincias</a:t>
            </a:r>
            <a:r>
              <a:rPr lang="en-US" sz="1000" i="1" dirty="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Arial"/>
              <a:buNone/>
            </a:pPr>
            <a:r>
              <a:rPr lang="en-US" sz="1000" i="1" dirty="0" err="1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normalizar</a:t>
            </a:r>
            <a:r>
              <a:rPr lang="en-US" sz="1000" i="1" dirty="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 cambia la </a:t>
            </a:r>
            <a:r>
              <a:rPr lang="en-US" sz="1000" i="1" dirty="0" err="1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lectura</a:t>
            </a:r>
            <a:r>
              <a:rPr lang="en-US" sz="1000" i="1" dirty="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6525252" y="2685990"/>
            <a:ext cx="2564964" cy="822960"/>
          </a:xfrm>
          <a:prstGeom prst="roundRect">
            <a:avLst>
              <a:gd name="adj" fmla="val 8889"/>
            </a:avLst>
          </a:prstGeom>
          <a:solidFill>
            <a:srgbClr val="F7F9FC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89844" y="2708845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7"/>
          <p:cNvSpPr/>
          <p:nvPr/>
        </p:nvSpPr>
        <p:spPr>
          <a:xfrm>
            <a:off x="7092180" y="2814006"/>
            <a:ext cx="1998036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lang="en-US" sz="11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Respuesta a la consulta externa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6689844" y="3143190"/>
            <a:ext cx="24003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epidemióloga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externo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recomendó</a:t>
            </a:r>
            <a:endParaRPr lang="en-US" sz="1000" dirty="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analizar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por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tasa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normalizada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 Este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dashboard lo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implementa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directamente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6525251" y="3582102"/>
            <a:ext cx="2564965" cy="896992"/>
          </a:xfrm>
          <a:prstGeom prst="roundRect">
            <a:avLst>
              <a:gd name="adj" fmla="val 8889"/>
            </a:avLst>
          </a:prstGeom>
          <a:solidFill>
            <a:srgbClr val="F7F9FC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89844" y="3614107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7"/>
          <p:cNvSpPr/>
          <p:nvPr/>
        </p:nvSpPr>
        <p:spPr>
          <a:xfrm>
            <a:off x="7092180" y="3710118"/>
            <a:ext cx="1998036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lang="en-US" sz="11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Dato </a:t>
            </a:r>
            <a:r>
              <a:rPr lang="en-US" sz="11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destacado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6689844" y="4039302"/>
            <a:ext cx="24003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747.614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totales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163.423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(21,8%)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corresponden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al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45–65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None/>
            </a:pPr>
            <a:r>
              <a:rPr lang="en-US" sz="1000" dirty="0" err="1">
                <a:solidFill>
                  <a:srgbClr val="1E293B"/>
                </a:solidFill>
              </a:rPr>
              <a:t>a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ños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mayor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volumen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absoluto</a:t>
            </a:r>
            <a:r>
              <a:rPr lang="en-US" sz="10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9501FA-83DD-3F64-B4BC-7BB1C4116B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277"/>
          <a:stretch>
            <a:fillRect/>
          </a:stretch>
        </p:blipFill>
        <p:spPr>
          <a:xfrm>
            <a:off x="24261" y="1602721"/>
            <a:ext cx="4987765" cy="23768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F4C1F1-4634-782E-0F73-5BE0242F3A3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201" b="46197"/>
          <a:stretch>
            <a:fillRect/>
          </a:stretch>
        </p:blipFill>
        <p:spPr>
          <a:xfrm>
            <a:off x="5012027" y="1770746"/>
            <a:ext cx="1444644" cy="19393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411480" y="73152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Hallazgos: 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8A020"/>
                </a:solidFill>
                <a:latin typeface="Arial"/>
                <a:ea typeface="Arial"/>
                <a:cs typeface="Arial"/>
                <a:sym typeface="Arial"/>
              </a:rPr>
              <a:t>Síntesis descriptiva de los patrones observables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411480" y="1115568"/>
            <a:ext cx="3981969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411480" y="1115568"/>
            <a:ext cx="457200" cy="960120"/>
          </a:xfrm>
          <a:prstGeom prst="roundRect">
            <a:avLst>
              <a:gd name="adj" fmla="val 14000"/>
            </a:avLst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411480" y="1115568"/>
            <a:ext cx="45720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932688" y="1188720"/>
            <a:ext cx="353872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Pico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sistemático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Sem.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Epidemiológica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12–14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932688" y="1463040"/>
            <a:ext cx="35387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Es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constante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desde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2022 al 2025. Coincide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temporalmente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con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temperaturas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18 - 23°C y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humedad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70 - 91%.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4599432" y="1115568"/>
            <a:ext cx="413308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4599432" y="1115568"/>
            <a:ext cx="457200" cy="960120"/>
          </a:xfrm>
          <a:prstGeom prst="roundRect">
            <a:avLst>
              <a:gd name="adj" fmla="val 14000"/>
            </a:avLst>
          </a:prstGeom>
          <a:solidFill>
            <a:srgbClr val="1B3A6B"/>
          </a:solidFill>
          <a:ln w="12700" cap="flat" cmpd="sng">
            <a:solidFill>
              <a:srgbClr val="1B3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4599432" y="1115568"/>
            <a:ext cx="45720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5120640" y="1188720"/>
            <a:ext cx="353872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El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norte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lidera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tasa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; la zona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centro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volumen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120640" y="1463040"/>
            <a:ext cx="35387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Tucumán: 6.304/100k hab. Buenos Aires: 702/100k hab.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Analizar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sin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normalizar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invierte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la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lectura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411480" y="2240280"/>
            <a:ext cx="3981969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411480" y="2240280"/>
            <a:ext cx="457200" cy="96012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411480" y="2240280"/>
            <a:ext cx="45720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932688" y="2313432"/>
            <a:ext cx="353872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2024: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brote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escala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excepcional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932688" y="2587752"/>
            <a:ext cx="35387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582 mil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78% del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acumulado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histórico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un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año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Escala 390%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respecto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a 2022.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/>
          <p:nvPr/>
        </p:nvSpPr>
        <p:spPr>
          <a:xfrm>
            <a:off x="4599432" y="2240280"/>
            <a:ext cx="413308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/>
          <p:nvPr/>
        </p:nvSpPr>
        <p:spPr>
          <a:xfrm>
            <a:off x="4599432" y="2240280"/>
            <a:ext cx="457200" cy="960120"/>
          </a:xfrm>
          <a:prstGeom prst="roundRect">
            <a:avLst>
              <a:gd name="adj" fmla="val 14000"/>
            </a:avLst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4599432" y="2240280"/>
            <a:ext cx="45720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5120640" y="2313432"/>
            <a:ext cx="353872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Grupo 25–34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lidera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tasa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etaria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5120640" y="2587752"/>
            <a:ext cx="35387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rango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etario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45-65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años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lidera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absolutos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normalización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el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orden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mismo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patrón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que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geografía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411480" y="3364992"/>
            <a:ext cx="83210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 cap="flat" cmpd="sng">
            <a:solidFill>
              <a:srgbClr val="E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2700000" algn="bl" rotWithShape="0">
              <a:srgbClr val="000000">
                <a:alpha val="1294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411480" y="3364992"/>
            <a:ext cx="457200" cy="960120"/>
          </a:xfrm>
          <a:prstGeom prst="roundRect">
            <a:avLst>
              <a:gd name="adj" fmla="val 14000"/>
            </a:avLst>
          </a:prstGeom>
          <a:solidFill>
            <a:srgbClr val="1B3A6B"/>
          </a:solidFill>
          <a:ln w="12700" cap="flat" cmpd="sng">
            <a:solidFill>
              <a:srgbClr val="1B3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411480" y="3364992"/>
            <a:ext cx="45720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941832" y="3438144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Densidad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poblacional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no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explica</a:t>
            </a:r>
            <a:r>
              <a:rPr lang="en-US" sz="1000" b="1" dirty="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 la </a:t>
            </a:r>
            <a:r>
              <a:rPr lang="en-US" sz="1000" b="1" dirty="0" err="1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incidencia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941832" y="3712464"/>
            <a:ext cx="765569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El scatter plot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densidad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vs.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tasa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no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correlación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directa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 Las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provincias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del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norte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tienen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los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valores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más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altos con </a:t>
            </a:r>
            <a:r>
              <a:rPr lang="en-US" sz="9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densidades</a:t>
            </a:r>
            <a:r>
              <a:rPr lang="en-US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medias. </a:t>
            </a:r>
            <a:r>
              <a:rPr lang="es-AR" sz="9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El patrón observado parece más asociado a diferencias territoriales que a densidad poblacional.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5" name="Google Shape;245;p10"/>
          <p:cNvCxnSpPr/>
          <p:nvPr/>
        </p:nvCxnSpPr>
        <p:spPr>
          <a:xfrm>
            <a:off x="6400800" y="-457200"/>
            <a:ext cx="3200400" cy="3200400"/>
          </a:xfrm>
          <a:prstGeom prst="straightConnector1">
            <a:avLst/>
          </a:prstGeom>
          <a:solidFill>
            <a:srgbClr val="1B3A6B">
              <a:alpha val="34901"/>
            </a:srgbClr>
          </a:solidFill>
          <a:ln w="12700" cap="flat" cmpd="sng">
            <a:solidFill>
              <a:srgbClr val="1B3A6B">
                <a:alpha val="34901"/>
              </a:srgbClr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46" name="Google Shape;246;p10"/>
          <p:cNvCxnSpPr/>
          <p:nvPr/>
        </p:nvCxnSpPr>
        <p:spPr>
          <a:xfrm>
            <a:off x="-457200" y="3200400"/>
            <a:ext cx="2286000" cy="2286000"/>
          </a:xfrm>
          <a:prstGeom prst="straightConnector1">
            <a:avLst/>
          </a:prstGeom>
          <a:solidFill>
            <a:srgbClr val="1B3A6B">
              <a:alpha val="30196"/>
            </a:srgbClr>
          </a:solidFill>
          <a:ln w="12700" cap="flat" cmpd="sng">
            <a:solidFill>
              <a:srgbClr val="1B3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7" name="Google Shape;247;p10"/>
          <p:cNvSpPr/>
          <p:nvPr/>
        </p:nvSpPr>
        <p:spPr>
          <a:xfrm>
            <a:off x="457200" y="393310"/>
            <a:ext cx="54864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E8A020"/>
                </a:solidFill>
              </a:rPr>
              <a:t>CIERRE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457200" y="685800"/>
            <a:ext cx="7772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responden los datos a la pregunta guía?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9" name="Google Shape;249;p10"/>
          <p:cNvCxnSpPr/>
          <p:nvPr/>
        </p:nvCxnSpPr>
        <p:spPr>
          <a:xfrm>
            <a:off x="457200" y="1664208"/>
            <a:ext cx="347472" cy="347472"/>
          </a:xfrm>
          <a:prstGeom prst="straightConnector1">
            <a:avLst/>
          </a:prstGeom>
          <a:solidFill>
            <a:srgbClr val="E8A020"/>
          </a:solidFill>
          <a:ln w="12700" cap="flat" cmpd="sng">
            <a:solidFill>
              <a:srgbClr val="E8A02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0" name="Google Shape;250;p10"/>
          <p:cNvSpPr/>
          <p:nvPr/>
        </p:nvSpPr>
        <p:spPr>
          <a:xfrm>
            <a:off x="457200" y="16642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960120" y="1645920"/>
            <a:ext cx="6858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El dengue en Argentina muestra un pico estacional sistemático en semanas 12–14, observable en todos los años analizados y coincidente con condiciones climáticas específicas.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2" name="Google Shape;252;p10"/>
          <p:cNvCxnSpPr/>
          <p:nvPr/>
        </p:nvCxnSpPr>
        <p:spPr>
          <a:xfrm>
            <a:off x="457200" y="2560320"/>
            <a:ext cx="347472" cy="347472"/>
          </a:xfrm>
          <a:prstGeom prst="straightConnector1">
            <a:avLst/>
          </a:prstGeom>
          <a:solidFill>
            <a:srgbClr val="E8A020"/>
          </a:solidFill>
          <a:ln w="12700" cap="flat" cmpd="sng">
            <a:solidFill>
              <a:srgbClr val="E8A02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3" name="Google Shape;253;p10"/>
          <p:cNvSpPr/>
          <p:nvPr/>
        </p:nvSpPr>
        <p:spPr>
          <a:xfrm>
            <a:off x="457200" y="256032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960120" y="2542032"/>
            <a:ext cx="6858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1050"/>
              <a:buFont typeface="Arial"/>
              <a:buNone/>
            </a:pP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La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distribución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geográfica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se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concentra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el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norte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del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por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tasa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incidencia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— Tucumán 9×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sobre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Buenos Aires —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aunque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el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volumen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absoluto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</a:rPr>
              <a:t>aparece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distribuido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otra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dirty="0" err="1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manera</a:t>
            </a:r>
            <a:r>
              <a:rPr lang="en-US" sz="1050" dirty="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5" name="Google Shape;255;p10"/>
          <p:cNvCxnSpPr/>
          <p:nvPr/>
        </p:nvCxnSpPr>
        <p:spPr>
          <a:xfrm>
            <a:off x="457200" y="3456432"/>
            <a:ext cx="347472" cy="347472"/>
          </a:xfrm>
          <a:prstGeom prst="straightConnector1">
            <a:avLst/>
          </a:prstGeom>
          <a:solidFill>
            <a:srgbClr val="E8A020"/>
          </a:solidFill>
          <a:ln w="12700" cap="flat" cmpd="sng">
            <a:solidFill>
              <a:srgbClr val="E8A02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6" name="Google Shape;256;p10"/>
          <p:cNvSpPr/>
          <p:nvPr/>
        </p:nvSpPr>
        <p:spPr>
          <a:xfrm>
            <a:off x="457200" y="345643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3E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0D1B3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960120" y="3438144"/>
            <a:ext cx="6858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DF4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E8EDF4"/>
                </a:solidFill>
                <a:latin typeface="Arial"/>
                <a:ea typeface="Arial"/>
                <a:cs typeface="Arial"/>
                <a:sym typeface="Arial"/>
              </a:rPr>
              <a:t>La tasa de incidencia etaria invierte el orden de los casos absolutos: el grupo 25–34 lidera cuando se normaliza por población.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8" name="Google Shape;258;p10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w="9525" cap="flat" cmpd="sng">
            <a:solidFill>
              <a:srgbClr val="E8A02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9" name="Google Shape;259;p10"/>
          <p:cNvSpPr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Arial"/>
              <a:buNone/>
            </a:pPr>
            <a:r>
              <a:rPr lang="en-US" sz="8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Análisis descriptivo · SNVS 2.0 · RENAPER · SMN  |  Tecnicatura en Ciencia de Datos e IA — PP1 Equipo 1  |  2026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83566B-D0F1-B855-2C63-F6AA3C45B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744" y="0"/>
            <a:ext cx="1868271" cy="18682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1576</Words>
  <Application>Microsoft Office PowerPoint</Application>
  <PresentationFormat>On-screen Show (16:9)</PresentationFormat>
  <Paragraphs>148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Juan Pablo Monllor</cp:lastModifiedBy>
  <cp:revision>1</cp:revision>
  <dcterms:created xsi:type="dcterms:W3CDTF">2026-06-12T01:26:35Z</dcterms:created>
  <dcterms:modified xsi:type="dcterms:W3CDTF">2026-06-13T23:45:49Z</dcterms:modified>
</cp:coreProperties>
</file>