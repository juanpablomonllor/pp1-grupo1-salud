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hPI7Bbaz2hqZI98vfa1noZA1YT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ir Kalasnicoy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67" autoAdjust="0"/>
  </p:normalViewPr>
  <p:slideViewPr>
    <p:cSldViewPr snapToGrid="0">
      <p:cViewPr varScale="1">
        <p:scale>
          <a:sx n="108" d="100"/>
          <a:sy n="108" d="100"/>
        </p:scale>
        <p:origin x="582" y="102"/>
      </p:cViewPr>
      <p:guideLst/>
    </p:cSldViewPr>
  </p:slideViewPr>
  <p:notesTextViewPr>
    <p:cViewPr>
      <p:scale>
        <a:sx n="133" d="100"/>
        <a:sy n="1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ablo Monllor" userId="4fb3887f64ab2d73" providerId="LiveId" clId="{500B3561-4A97-4155-9250-7411DCC6BCCC}"/>
    <pc:docChg chg="modSld">
      <pc:chgData name="Juan Pablo Monllor" userId="4fb3887f64ab2d73" providerId="LiveId" clId="{500B3561-4A97-4155-9250-7411DCC6BCCC}" dt="2026-07-05T02:27:49.124" v="138" actId="20577"/>
      <pc:docMkLst>
        <pc:docMk/>
      </pc:docMkLst>
      <pc:sldChg chg="modNotesTx">
        <pc:chgData name="Juan Pablo Monllor" userId="4fb3887f64ab2d73" providerId="LiveId" clId="{500B3561-4A97-4155-9250-7411DCC6BCCC}" dt="2026-07-05T02:27:08.808" v="123" actId="20577"/>
        <pc:sldMkLst>
          <pc:docMk/>
          <pc:sldMk cId="0" sldId="256"/>
        </pc:sldMkLst>
      </pc:sldChg>
      <pc:sldChg chg="modNotesTx">
        <pc:chgData name="Juan Pablo Monllor" userId="4fb3887f64ab2d73" providerId="LiveId" clId="{500B3561-4A97-4155-9250-7411DCC6BCCC}" dt="2026-07-05T02:27:11.669" v="124" actId="20577"/>
        <pc:sldMkLst>
          <pc:docMk/>
          <pc:sldMk cId="0" sldId="257"/>
        </pc:sldMkLst>
      </pc:sldChg>
      <pc:sldChg chg="modNotesTx">
        <pc:chgData name="Juan Pablo Monllor" userId="4fb3887f64ab2d73" providerId="LiveId" clId="{500B3561-4A97-4155-9250-7411DCC6BCCC}" dt="2026-07-05T02:27:14.167" v="125" actId="20577"/>
        <pc:sldMkLst>
          <pc:docMk/>
          <pc:sldMk cId="0" sldId="258"/>
        </pc:sldMkLst>
      </pc:sldChg>
      <pc:sldChg chg="modNotesTx">
        <pc:chgData name="Juan Pablo Monllor" userId="4fb3887f64ab2d73" providerId="LiveId" clId="{500B3561-4A97-4155-9250-7411DCC6BCCC}" dt="2026-07-05T02:27:16.790" v="126" actId="20577"/>
        <pc:sldMkLst>
          <pc:docMk/>
          <pc:sldMk cId="0" sldId="259"/>
        </pc:sldMkLst>
      </pc:sldChg>
      <pc:sldChg chg="modNotesTx">
        <pc:chgData name="Juan Pablo Monllor" userId="4fb3887f64ab2d73" providerId="LiveId" clId="{500B3561-4A97-4155-9250-7411DCC6BCCC}" dt="2026-07-05T02:27:19.012" v="127" actId="20577"/>
        <pc:sldMkLst>
          <pc:docMk/>
          <pc:sldMk cId="0" sldId="260"/>
        </pc:sldMkLst>
      </pc:sldChg>
      <pc:sldChg chg="modNotesTx">
        <pc:chgData name="Juan Pablo Monllor" userId="4fb3887f64ab2d73" providerId="LiveId" clId="{500B3561-4A97-4155-9250-7411DCC6BCCC}" dt="2026-07-05T02:27:21.658" v="128" actId="20577"/>
        <pc:sldMkLst>
          <pc:docMk/>
          <pc:sldMk cId="0" sldId="261"/>
        </pc:sldMkLst>
      </pc:sldChg>
      <pc:sldChg chg="modNotesTx">
        <pc:chgData name="Juan Pablo Monllor" userId="4fb3887f64ab2d73" providerId="LiveId" clId="{500B3561-4A97-4155-9250-7411DCC6BCCC}" dt="2026-07-05T02:27:23.721" v="129" actId="20577"/>
        <pc:sldMkLst>
          <pc:docMk/>
          <pc:sldMk cId="0" sldId="262"/>
        </pc:sldMkLst>
      </pc:sldChg>
      <pc:sldChg chg="modNotesTx">
        <pc:chgData name="Juan Pablo Monllor" userId="4fb3887f64ab2d73" providerId="LiveId" clId="{500B3561-4A97-4155-9250-7411DCC6BCCC}" dt="2026-07-05T02:27:26.713" v="130" actId="20577"/>
        <pc:sldMkLst>
          <pc:docMk/>
          <pc:sldMk cId="0" sldId="263"/>
        </pc:sldMkLst>
      </pc:sldChg>
      <pc:sldChg chg="modNotesTx">
        <pc:chgData name="Juan Pablo Monllor" userId="4fb3887f64ab2d73" providerId="LiveId" clId="{500B3561-4A97-4155-9250-7411DCC6BCCC}" dt="2026-07-05T02:27:29.233" v="131" actId="20577"/>
        <pc:sldMkLst>
          <pc:docMk/>
          <pc:sldMk cId="0" sldId="264"/>
        </pc:sldMkLst>
      </pc:sldChg>
      <pc:sldChg chg="modNotesTx">
        <pc:chgData name="Juan Pablo Monllor" userId="4fb3887f64ab2d73" providerId="LiveId" clId="{500B3561-4A97-4155-9250-7411DCC6BCCC}" dt="2026-07-05T02:27:32.310" v="132" actId="20577"/>
        <pc:sldMkLst>
          <pc:docMk/>
          <pc:sldMk cId="0" sldId="265"/>
        </pc:sldMkLst>
      </pc:sldChg>
      <pc:sldChg chg="modNotesTx">
        <pc:chgData name="Juan Pablo Monllor" userId="4fb3887f64ab2d73" providerId="LiveId" clId="{500B3561-4A97-4155-9250-7411DCC6BCCC}" dt="2026-07-05T02:27:34.671" v="133" actId="20577"/>
        <pc:sldMkLst>
          <pc:docMk/>
          <pc:sldMk cId="0" sldId="266"/>
        </pc:sldMkLst>
      </pc:sldChg>
      <pc:sldChg chg="modNotesTx">
        <pc:chgData name="Juan Pablo Monllor" userId="4fb3887f64ab2d73" providerId="LiveId" clId="{500B3561-4A97-4155-9250-7411DCC6BCCC}" dt="2026-07-05T02:27:37.131" v="134" actId="20577"/>
        <pc:sldMkLst>
          <pc:docMk/>
          <pc:sldMk cId="0" sldId="267"/>
        </pc:sldMkLst>
      </pc:sldChg>
      <pc:sldChg chg="modSp mod modNotesTx">
        <pc:chgData name="Juan Pablo Monllor" userId="4fb3887f64ab2d73" providerId="LiveId" clId="{500B3561-4A97-4155-9250-7411DCC6BCCC}" dt="2026-07-05T02:27:40.896" v="135" actId="20577"/>
        <pc:sldMkLst>
          <pc:docMk/>
          <pc:sldMk cId="0" sldId="268"/>
        </pc:sldMkLst>
        <pc:spChg chg="mod">
          <ac:chgData name="Juan Pablo Monllor" userId="4fb3887f64ab2d73" providerId="LiveId" clId="{500B3561-4A97-4155-9250-7411DCC6BCCC}" dt="2026-06-29T17:30:14.375" v="27" actId="20577"/>
          <ac:spMkLst>
            <pc:docMk/>
            <pc:sldMk cId="0" sldId="268"/>
            <ac:spMk id="321" creationId="{00000000-0000-0000-0000-000000000000}"/>
          </ac:spMkLst>
        </pc:spChg>
      </pc:sldChg>
      <pc:sldChg chg="modNotesTx">
        <pc:chgData name="Juan Pablo Monllor" userId="4fb3887f64ab2d73" providerId="LiveId" clId="{500B3561-4A97-4155-9250-7411DCC6BCCC}" dt="2026-07-05T02:27:46.141" v="137" actId="5793"/>
        <pc:sldMkLst>
          <pc:docMk/>
          <pc:sldMk cId="0" sldId="269"/>
        </pc:sldMkLst>
      </pc:sldChg>
      <pc:sldChg chg="modNotesTx">
        <pc:chgData name="Juan Pablo Monllor" userId="4fb3887f64ab2d73" providerId="LiveId" clId="{500B3561-4A97-4155-9250-7411DCC6BCCC}" dt="2026-07-05T02:27:49.124" v="138" actId="20577"/>
        <pc:sldMkLst>
          <pc:docMk/>
          <pc:sldMk cId="0" sldId="27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22:26.125" idx="1">
    <p:pos x="6000" y="0"/>
    <p:text>para que no quede tan vacio podriamos poner la unidad de medida que usamos para cada pregunta, cuando? -&gt; evolucion semanal, donde ? -&gt; distribucion territorial, a quien?-&gt; grupo etario. 
Algo asi como para que no quede tan vacio (tampoco es a fuerza ponerlo, lo digo como sugerencia)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25:26.208" idx="2">
    <p:pos x="6000" y="0"/>
    <p:text>cambie el subtitulo, no se si poner "Casos absolutos por grupo etario vs. tasa de incidencia por grupo etario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8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16:15.928" idx="3">
    <p:pos x="6000" y="0"/>
    <p:text>capaz no veria mal en este slide agrandar un poco las letras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85" name="Google Shape;8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c14cc918_0_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s-AR" dirty="0"/>
          </a:p>
        </p:txBody>
      </p:sp>
      <p:sp>
        <p:nvSpPr>
          <p:cNvPr id="132" name="Google Shape;132;g3f1c14cc91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b428b7a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1b428b7a3_0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159" name="Google Shape;159;g3f1b428b7a3_0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c14cc91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f1c14cc918_0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174" name="Google Shape;174;g3f1c14cc918_0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194" name="Google Shape;19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1c14cc91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f1c14cc918_0_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228" name="Google Shape;228;g3f1c14cc918_0_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249" name="Google Shape;249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f686ec1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ef686ec1b1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281" name="Google Shape;281;g3ef686ec1b1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1c14cc91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1c14cc918_0_7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293" name="Google Shape;293;g3f1c14cc918_0_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1c14cc918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f1c14cc918_0_1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b="0" dirty="0"/>
          </a:p>
        </p:txBody>
      </p:sp>
      <p:sp>
        <p:nvSpPr>
          <p:cNvPr id="308" name="Google Shape;308;g3f1c14cc918_0_1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1c14cc91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f1c14cc918_0_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b="0" dirty="0"/>
          </a:p>
        </p:txBody>
      </p:sp>
      <p:sp>
        <p:nvSpPr>
          <p:cNvPr id="317" name="Google Shape;317;g3f1c14cc918_0_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b="0" dirty="0"/>
          </a:p>
        </p:txBody>
      </p:sp>
      <p:sp>
        <p:nvSpPr>
          <p:cNvPr id="326" name="Google Shape;32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b="0" dirty="0"/>
          </a:p>
        </p:txBody>
      </p:sp>
      <p:sp>
        <p:nvSpPr>
          <p:cNvPr id="360" name="Google Shape;36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72825" y="2641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Arial"/>
              <a:buNone/>
            </a:pPr>
            <a:r>
              <a:rPr lang="en-US" sz="14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PRÁCTICAS PROFESIONALIZANTES I — EQUIPO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72825" y="783455"/>
            <a:ext cx="7206300" cy="106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MONITOREO EPIDEMIOLÓGICO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DENGUE EN ARGENTINA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72825" y="2105405"/>
            <a:ext cx="725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500"/>
              <a:buFont typeface="Arial"/>
              <a:buNone/>
            </a:pPr>
            <a:r>
              <a:rPr lang="en-US" sz="2300" b="1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2022 - 2025 · Análisis descriptivo multidimensional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72825" y="3291850"/>
            <a:ext cx="26448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4000" y="3290875"/>
            <a:ext cx="16200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748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6750" y="439117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casos totales registrados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291850"/>
            <a:ext cx="27432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503250" y="3291850"/>
            <a:ext cx="21375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319350" y="4391675"/>
            <a:ext cx="2505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de vigilancia epidemiológica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26375" y="3291650"/>
            <a:ext cx="27432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126425" y="3290875"/>
            <a:ext cx="27432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jurisdicciones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14625" y="4371050"/>
            <a:ext cx="1766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bajo análisis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5729" y="0"/>
            <a:ext cx="1868271" cy="1868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6649808" y="1292426"/>
            <a:ext cx="633288" cy="657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/>
          <p:nvPr/>
        </p:nvSpPr>
        <p:spPr>
          <a:xfrm>
            <a:off x="457200" y="0"/>
            <a:ext cx="7772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 Equipo de Trabajo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oogle Shape;33;p14"/>
          <p:cNvGrpSpPr/>
          <p:nvPr/>
        </p:nvGrpSpPr>
        <p:grpSpPr>
          <a:xfrm>
            <a:off x="397812" y="1408242"/>
            <a:ext cx="1980000" cy="3240000"/>
            <a:chOff x="471605" y="1395086"/>
            <a:chExt cx="1980000" cy="3240000"/>
          </a:xfrm>
        </p:grpSpPr>
        <p:sp>
          <p:nvSpPr>
            <p:cNvPr id="34" name="Google Shape;34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3E"/>
                </a:buClr>
                <a:buSzPts val="1300"/>
                <a:buFont typeface="Calibri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KALASNICOY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Amir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" name="Google Shape;36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37" name="Google Shape;37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Análisis de datos: </a:t>
                </a:r>
                <a:endParaRPr sz="1200" b="0" i="0" u="none" strike="noStrike" cap="none">
                  <a:solidFill>
                    <a:srgbClr val="1B8EA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Encargado de explorar los datos para encontrar tendencias, comparaciones y puntos clave del análisis.</a:t>
                </a:r>
                <a:endParaRPr sz="1200" b="0" i="0" u="none" strike="noStrike" cap="none">
                  <a:solidFill>
                    <a:srgbClr val="1B8EA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14"/>
            <p:cNvGrpSpPr/>
            <p:nvPr/>
          </p:nvGrpSpPr>
          <p:grpSpPr>
            <a:xfrm>
              <a:off x="478517" y="1397400"/>
              <a:ext cx="1965900" cy="1051950"/>
              <a:chOff x="478517" y="1397400"/>
              <a:chExt cx="1965900" cy="1051950"/>
            </a:xfrm>
          </p:grpSpPr>
          <p:sp>
            <p:nvSpPr>
              <p:cNvPr id="40" name="Google Shape;40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4" name="Google Shape;4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17735" y="1513350"/>
                <a:ext cx="936000" cy="9360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" name="Google Shape;45;p14"/>
          <p:cNvGrpSpPr/>
          <p:nvPr/>
        </p:nvGrpSpPr>
        <p:grpSpPr>
          <a:xfrm>
            <a:off x="4655091" y="1408242"/>
            <a:ext cx="1980000" cy="3240000"/>
            <a:chOff x="471605" y="1395086"/>
            <a:chExt cx="1980000" cy="3240000"/>
          </a:xfrm>
        </p:grpSpPr>
        <p:sp>
          <p:nvSpPr>
            <p:cNvPr id="46" name="Google Shape;46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MONLLOR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Juan Pablo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" name="Google Shape;48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49" name="Google Shape;49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Visualización: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Encargado de transformar los números y análisis complejos en gráficos fáciles de entender.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14"/>
            <p:cNvGrpSpPr/>
            <p:nvPr/>
          </p:nvGrpSpPr>
          <p:grpSpPr>
            <a:xfrm>
              <a:off x="478517" y="1397400"/>
              <a:ext cx="1965900" cy="967950"/>
              <a:chOff x="478517" y="1397400"/>
              <a:chExt cx="1965900" cy="967950"/>
            </a:xfrm>
          </p:grpSpPr>
          <p:sp>
            <p:nvSpPr>
              <p:cNvPr id="52" name="Google Shape;52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" name="Google Shape;56;p14"/>
          <p:cNvGrpSpPr/>
          <p:nvPr/>
        </p:nvGrpSpPr>
        <p:grpSpPr>
          <a:xfrm>
            <a:off x="6766188" y="1408242"/>
            <a:ext cx="1980000" cy="3240000"/>
            <a:chOff x="471605" y="1395086"/>
            <a:chExt cx="1980000" cy="3240000"/>
          </a:xfrm>
        </p:grpSpPr>
        <p:sp>
          <p:nvSpPr>
            <p:cNvPr id="57" name="Google Shape;57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ROA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Tamara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Presentación y comunicación: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Traduce los hallazgos del análisis en conclusiones claras y las comunica al público.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478517" y="1397400"/>
              <a:ext cx="1965900" cy="967950"/>
              <a:chOff x="478517" y="1397400"/>
              <a:chExt cx="1965900" cy="96795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" name="Google Shape;67;p14"/>
          <p:cNvGrpSpPr/>
          <p:nvPr/>
        </p:nvGrpSpPr>
        <p:grpSpPr>
          <a:xfrm>
            <a:off x="2543994" y="1408242"/>
            <a:ext cx="1980000" cy="3240000"/>
            <a:chOff x="2543994" y="1408242"/>
            <a:chExt cx="1980000" cy="3240000"/>
          </a:xfrm>
        </p:grpSpPr>
        <p:sp>
          <p:nvSpPr>
            <p:cNvPr id="68" name="Google Shape;68;p14"/>
            <p:cNvSpPr/>
            <p:nvPr/>
          </p:nvSpPr>
          <p:spPr>
            <a:xfrm>
              <a:off x="2543994" y="1408242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642256" y="2584906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MARTÍNEZ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Lionel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" name="Google Shape;70;p14"/>
            <p:cNvGrpSpPr/>
            <p:nvPr/>
          </p:nvGrpSpPr>
          <p:grpSpPr>
            <a:xfrm>
              <a:off x="2642256" y="3122056"/>
              <a:ext cx="1783201" cy="1355125"/>
              <a:chOff x="569867" y="3108900"/>
              <a:chExt cx="1783201" cy="1355125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Procesamiento de datos: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Preparar, limpiar y organizar los datos para que puedan ser analizados.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>
              <a:off x="2550906" y="1410556"/>
              <a:ext cx="1965900" cy="967950"/>
              <a:chOff x="478517" y="1397400"/>
              <a:chExt cx="1965900" cy="96795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78" name="Google Shape;7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69796" y="1560480"/>
              <a:ext cx="936000" cy="936000"/>
            </a:xfrm>
            <a:prstGeom prst="ellipse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5520" y="1563711"/>
            <a:ext cx="938865" cy="93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1458" y="1561726"/>
            <a:ext cx="936000" cy="936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57200" y="0"/>
            <a:ext cx="82296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y Organización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73761" y="1188720"/>
            <a:ext cx="4252793" cy="356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273761" y="1188720"/>
            <a:ext cx="4252209" cy="457200"/>
          </a:xfrm>
          <a:prstGeom prst="rect">
            <a:avLst/>
          </a:prstGeom>
          <a:solidFill>
            <a:srgbClr val="1F4068"/>
          </a:solidFill>
          <a:ln w="12700" cap="flat" cmpd="sng">
            <a:solidFill>
              <a:srgbClr val="1F40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85333" y="118965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  HERRAMIENTAS UTILIZADAS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4085" y="1773888"/>
            <a:ext cx="548700" cy="5487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113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1226772" y="1761363"/>
            <a:ext cx="1874237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Open Refine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203485" y="2011945"/>
            <a:ext cx="1897524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Carga y limpieza de datos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63735" y="2733892"/>
            <a:ext cx="548700" cy="548700"/>
          </a:xfrm>
          <a:prstGeom prst="ellipse">
            <a:avLst/>
          </a:prstGeom>
          <a:solidFill>
            <a:srgbClr val="1B8EAD"/>
          </a:solidFill>
          <a:ln w="12700" cap="flat" cmpd="sng">
            <a:solidFill>
              <a:srgbClr val="1B8E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776" y="28619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1142785" y="2720343"/>
            <a:ext cx="1958224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142785" y="2999262"/>
            <a:ext cx="1958224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Visualización e informes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617385" y="1188720"/>
            <a:ext cx="4252209" cy="356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616801" y="1188720"/>
            <a:ext cx="4252209" cy="457200"/>
          </a:xfrm>
          <a:prstGeom prst="rect">
            <a:avLst/>
          </a:prstGeom>
          <a:solidFill>
            <a:srgbClr val="1F4068"/>
          </a:solidFill>
          <a:ln w="12700" cap="flat" cmpd="sng">
            <a:solidFill>
              <a:srgbClr val="1F40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731255" y="118965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 ORGANIZACIÓN DEL EQUIPO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892040" y="1810512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074920" y="1810638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Trabajo colaborativo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074920" y="2064200"/>
            <a:ext cx="2317823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División de tareas por etapas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892040" y="2523744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074920" y="2523888"/>
            <a:ext cx="2317823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Reuniones de equipo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074920" y="2768432"/>
            <a:ext cx="2362101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Revisión conjunta de avances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892040" y="3236976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074920" y="3237771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074920" y="3492876"/>
            <a:ext cx="2317823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Seguimiento y entregables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892040" y="3950208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074920" y="3950352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Comunicación activa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074920" y="4206108"/>
            <a:ext cx="2314098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Coordinación continua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78476" y="1810500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78476" y="2770503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7476987" y="1823765"/>
            <a:ext cx="1277568" cy="417693"/>
            <a:chOff x="7476987" y="1823765"/>
            <a:chExt cx="1277568" cy="417693"/>
          </a:xfrm>
        </p:grpSpPr>
        <p:pic>
          <p:nvPicPr>
            <p:cNvPr id="119" name="Google Shape;119;p15"/>
            <p:cNvPicPr preferRelativeResize="0"/>
            <p:nvPr/>
          </p:nvPicPr>
          <p:blipFill rotWithShape="1">
            <a:blip r:embed="rId5">
              <a:alphaModFix/>
            </a:blip>
            <a:srcRect l="3001" t="32000" r="77721" b="32000"/>
            <a:stretch/>
          </p:blipFill>
          <p:spPr>
            <a:xfrm>
              <a:off x="7476987" y="1825851"/>
              <a:ext cx="395661" cy="41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11787" y="1823765"/>
              <a:ext cx="417693" cy="417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 rotWithShape="1">
            <a:blip r:embed="rId7">
              <a:alphaModFix/>
            </a:blip>
            <a:srcRect l="15629" r="14862"/>
            <a:stretch/>
          </p:blipFill>
          <p:spPr>
            <a:xfrm>
              <a:off x="8368619" y="1848160"/>
              <a:ext cx="385936" cy="3492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" name="Google Shape;122;p15"/>
          <p:cNvPicPr preferRelativeResize="0"/>
          <p:nvPr/>
        </p:nvPicPr>
        <p:blipFill rotWithShape="1">
          <a:blip r:embed="rId8">
            <a:alphaModFix/>
          </a:blip>
          <a:srcRect l="16255" t="28685" r="16217" b="27977"/>
          <a:stretch/>
        </p:blipFill>
        <p:spPr>
          <a:xfrm>
            <a:off x="7348615" y="3262082"/>
            <a:ext cx="1405940" cy="3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9">
            <a:alphaModFix/>
          </a:blip>
          <a:srcRect l="9807" t="8967" r="8790" b="9874"/>
          <a:stretch/>
        </p:blipFill>
        <p:spPr>
          <a:xfrm>
            <a:off x="7914348" y="3970277"/>
            <a:ext cx="412570" cy="41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90119" y="1783363"/>
            <a:ext cx="704455" cy="5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73157" y="2735218"/>
            <a:ext cx="548700" cy="54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5"/>
          <p:cNvGrpSpPr/>
          <p:nvPr/>
        </p:nvGrpSpPr>
        <p:grpSpPr>
          <a:xfrm>
            <a:off x="7389018" y="2566732"/>
            <a:ext cx="1397250" cy="424522"/>
            <a:chOff x="7335652" y="2565303"/>
            <a:chExt cx="1397250" cy="424522"/>
          </a:xfrm>
        </p:grpSpPr>
        <p:pic>
          <p:nvPicPr>
            <p:cNvPr id="127" name="Google Shape;127;p15"/>
            <p:cNvPicPr preferRelativeResize="0"/>
            <p:nvPr/>
          </p:nvPicPr>
          <p:blipFill rotWithShape="1">
            <a:blip r:embed="rId12">
              <a:alphaModFix/>
            </a:blip>
            <a:srcRect l="7797" t="3247" r="8304" b="25329"/>
            <a:stretch/>
          </p:blipFill>
          <p:spPr>
            <a:xfrm>
              <a:off x="7794613" y="2578491"/>
              <a:ext cx="483175" cy="411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5"/>
            <p:cNvPicPr preferRelativeResize="0"/>
            <p:nvPr/>
          </p:nvPicPr>
          <p:blipFill rotWithShape="1">
            <a:blip r:embed="rId13">
              <a:alphaModFix/>
            </a:blip>
            <a:srcRect l="7488" t="5566" r="11648" b="9565"/>
            <a:stretch/>
          </p:blipFill>
          <p:spPr>
            <a:xfrm>
              <a:off x="8346966" y="2571750"/>
              <a:ext cx="385936" cy="40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5" descr="Read AI: Meeting Notes - Apps on Google Play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35652" y="2565303"/>
              <a:ext cx="395662" cy="3956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1c14cc918_0_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1c14cc918_0_2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y ETL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1c14cc918_0_2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Cómo se construyó el análisis y qué no cubre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1c14cc918_0_2"/>
          <p:cNvSpPr/>
          <p:nvPr/>
        </p:nvSpPr>
        <p:spPr>
          <a:xfrm>
            <a:off x="411475" y="1051800"/>
            <a:ext cx="8321100" cy="8688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1c14cc918_0_2"/>
          <p:cNvSpPr/>
          <p:nvPr/>
        </p:nvSpPr>
        <p:spPr>
          <a:xfrm>
            <a:off x="594310" y="1028145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Organización del dataset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datos se trabajaron a nivel de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epidemiológica, año, provincia/departamento y grupo etario.</a:t>
            </a:r>
            <a:endParaRPr sz="1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Esto permitió analizar la evolución temporal, la distribución geográfica y el impacto por edad. 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1c14cc918_0_2"/>
          <p:cNvSpPr/>
          <p:nvPr/>
        </p:nvSpPr>
        <p:spPr>
          <a:xfrm>
            <a:off x="411475" y="2006450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1c14cc918_0_2"/>
          <p:cNvSpPr/>
          <p:nvPr/>
        </p:nvSpPr>
        <p:spPr>
          <a:xfrm>
            <a:off x="471750" y="3209975"/>
            <a:ext cx="18171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1.Fuentes y unidad de análisis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1c14cc918_0_2"/>
          <p:cNvSpPr/>
          <p:nvPr/>
        </p:nvSpPr>
        <p:spPr>
          <a:xfrm>
            <a:off x="411475" y="4546985"/>
            <a:ext cx="8256250" cy="523363"/>
          </a:xfrm>
          <a:prstGeom prst="roundRect">
            <a:avLst>
              <a:gd name="adj" fmla="val 12000"/>
            </a:avLst>
          </a:prstGeom>
          <a:solidFill>
            <a:srgbClr val="FCEFE3"/>
          </a:solidFill>
          <a:ln>
            <a:noFill/>
          </a:ln>
        </p:spPr>
        <p:txBody>
          <a:bodyPr spcFirstLastPara="1" wrap="square" lIns="146000" tIns="36000" rIns="146000" bIns="360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4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Limitaciones: </a:t>
            </a:r>
            <a:r>
              <a:rPr lang="en-US" sz="1400" b="0" i="0" u="none" strike="noStrike" cap="none">
                <a:solidFill>
                  <a:srgbClr val="5C3A33"/>
                </a:solidFill>
                <a:latin typeface="Calibri"/>
                <a:ea typeface="Calibri"/>
                <a:cs typeface="Calibri"/>
                <a:sym typeface="Calibri"/>
              </a:rPr>
              <a:t>Análisis descriptivo, no causal · posible subregistro en SNVS 2.0 · agregación semanal pierde granularidad diaria · cobertura 2025 parcial.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1c14cc918_0_2"/>
          <p:cNvSpPr/>
          <p:nvPr/>
        </p:nvSpPr>
        <p:spPr>
          <a:xfrm>
            <a:off x="2488650" y="2006451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1c14cc918_0_2"/>
          <p:cNvSpPr/>
          <p:nvPr/>
        </p:nvSpPr>
        <p:spPr>
          <a:xfrm>
            <a:off x="2697600" y="3396864"/>
            <a:ext cx="15588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Limpieza de datos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f1c14cc918_0_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6719" y="272867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1c14cc918_0_2"/>
          <p:cNvSpPr/>
          <p:nvPr/>
        </p:nvSpPr>
        <p:spPr>
          <a:xfrm>
            <a:off x="4783478" y="3662074"/>
            <a:ext cx="167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Visualización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1c14cc918_0_2"/>
          <p:cNvSpPr/>
          <p:nvPr/>
        </p:nvSpPr>
        <p:spPr>
          <a:xfrm>
            <a:off x="6739025" y="2006450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1c14cc918_0_2"/>
          <p:cNvSpPr/>
          <p:nvPr/>
        </p:nvSpPr>
        <p:spPr>
          <a:xfrm>
            <a:off x="6899950" y="3479375"/>
            <a:ext cx="1673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4. Indicadores calculados</a:t>
            </a:r>
            <a:endParaRPr sz="1500" b="1" i="0" u="none" strike="noStrike" cap="none">
              <a:solidFill>
                <a:srgbClr val="1B3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endParaRPr sz="1500" b="1" i="0" u="none" strike="noStrike" cap="none">
              <a:solidFill>
                <a:srgbClr val="1B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f1c14cc918_0_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9219" y="272867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1c14cc918_0_2"/>
          <p:cNvSpPr/>
          <p:nvPr/>
        </p:nvSpPr>
        <p:spPr>
          <a:xfrm>
            <a:off x="4565978" y="3662074"/>
            <a:ext cx="167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Visualización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1c14cc918_0_2"/>
          <p:cNvSpPr/>
          <p:nvPr/>
        </p:nvSpPr>
        <p:spPr>
          <a:xfrm>
            <a:off x="4613825" y="2006339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1c14cc918_0_2"/>
          <p:cNvSpPr/>
          <p:nvPr/>
        </p:nvSpPr>
        <p:spPr>
          <a:xfrm>
            <a:off x="4810425" y="3321726"/>
            <a:ext cx="16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Transformación y unión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f1c14cc918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75" y="2208088"/>
            <a:ext cx="12382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1c14cc918_0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1263" y="2223213"/>
            <a:ext cx="9810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f1c14cc918_0_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4000" y="2239975"/>
            <a:ext cx="11430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1c14cc918_0_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74000" y="2229500"/>
            <a:ext cx="1066800" cy="7715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1b428b7a3_0_5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1b428b7a3_0_50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1b428b7a3_0_50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Conocimiento de dominio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1b428b7a3_0_50"/>
          <p:cNvSpPr/>
          <p:nvPr/>
        </p:nvSpPr>
        <p:spPr>
          <a:xfrm>
            <a:off x="411475" y="1053325"/>
            <a:ext cx="8321100" cy="7548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1b428b7a3_0_50"/>
          <p:cNvSpPr/>
          <p:nvPr/>
        </p:nvSpPr>
        <p:spPr>
          <a:xfrm>
            <a:off x="594350" y="1096722"/>
            <a:ext cx="80094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interpretar la evolución del dengue, es clave considerar el ciclo del mosquito y las condiciones ambientales que favorecen su reproducción.</a:t>
            </a:r>
            <a:endParaRPr sz="1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1b428b7a3_0_50"/>
          <p:cNvSpPr/>
          <p:nvPr/>
        </p:nvSpPr>
        <p:spPr>
          <a:xfrm>
            <a:off x="357475" y="535645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Fuentes: SNVS 2.0 (casos por semana epidemiológica) · RENAPER (población por provincia y edad, para denominadores) · SMN (temperatura, humedad y precipitación diaria)  |  Período: semanas epidemiológicas 1–52, 2022–2025  |  Alcance: análisis descriptivo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f1b428b7a3_0_50" descr="Diagrama  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5210" y="1855550"/>
            <a:ext cx="3289990" cy="3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1b428b7a3_0_50"/>
          <p:cNvSpPr/>
          <p:nvPr/>
        </p:nvSpPr>
        <p:spPr>
          <a:xfrm>
            <a:off x="4807800" y="2050925"/>
            <a:ext cx="3537000" cy="2260500"/>
          </a:xfrm>
          <a:prstGeom prst="roundRect">
            <a:avLst>
              <a:gd name="adj" fmla="val 4938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1b428b7a3_0_50"/>
          <p:cNvSpPr/>
          <p:nvPr/>
        </p:nvSpPr>
        <p:spPr>
          <a:xfrm>
            <a:off x="4886950" y="2193543"/>
            <a:ext cx="2427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Condiciones de estudio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1b428b7a3_0_50"/>
          <p:cNvSpPr/>
          <p:nvPr/>
        </p:nvSpPr>
        <p:spPr>
          <a:xfrm>
            <a:off x="4886950" y="2557350"/>
            <a:ext cx="34578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Tiempo de ciclo de vida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→ 10 a 15 días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Mayores precipitaciones + Altas temperaturas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→Activación de huevos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b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→Agua estancada y humedad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c14cc918_0_3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1c14cc918_0_31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problema estamos analizando?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1c14cc918_0_31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El desequilibrio que motiva el análisis: </a:t>
            </a:r>
            <a:r>
              <a:rPr lang="en-US" sz="20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Pregunta Guía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1c14cc918_0_31"/>
          <p:cNvSpPr/>
          <p:nvPr/>
        </p:nvSpPr>
        <p:spPr>
          <a:xfrm>
            <a:off x="411480" y="1143000"/>
            <a:ext cx="8321100" cy="9600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1c14cc918_0_31"/>
          <p:cNvSpPr/>
          <p:nvPr/>
        </p:nvSpPr>
        <p:spPr>
          <a:xfrm>
            <a:off x="594360" y="1188720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patrones epidemiológicos son observables en la evolución del dengue en Argentina entre 2022 y 2025?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1c14cc918_0_31"/>
          <p:cNvSpPr/>
          <p:nvPr/>
        </p:nvSpPr>
        <p:spPr>
          <a:xfrm>
            <a:off x="411480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f1c14cc918_0_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53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1c14cc918_0_31"/>
          <p:cNvSpPr/>
          <p:nvPr/>
        </p:nvSpPr>
        <p:spPr>
          <a:xfrm>
            <a:off x="411492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¿Cuándo?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1c14cc918_0_31"/>
          <p:cNvSpPr/>
          <p:nvPr/>
        </p:nvSpPr>
        <p:spPr>
          <a:xfrm>
            <a:off x="3218688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f1c14cc918_0_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0261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1c14cc918_0_31"/>
          <p:cNvSpPr/>
          <p:nvPr/>
        </p:nvSpPr>
        <p:spPr>
          <a:xfrm>
            <a:off x="3218701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¿Dónde?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1c14cc918_0_31"/>
          <p:cNvSpPr/>
          <p:nvPr/>
        </p:nvSpPr>
        <p:spPr>
          <a:xfrm>
            <a:off x="6025896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f1c14cc918_0_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7469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1c14cc918_0_31"/>
          <p:cNvSpPr/>
          <p:nvPr/>
        </p:nvSpPr>
        <p:spPr>
          <a:xfrm>
            <a:off x="6025908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¿A quién?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1c14cc918_0_31"/>
          <p:cNvSpPr/>
          <p:nvPr/>
        </p:nvSpPr>
        <p:spPr>
          <a:xfrm>
            <a:off x="411475" y="4663456"/>
            <a:ext cx="8366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Fuentes: SNVS 2.0 (casos por semana epidemiológica) · RENAPER (población por provincia y edad, para denominadores) · SMN (temperatura, humedad y precipitación diaria)  |  Período: semanas epidemiológicas 1–52, 2022–2025  |  Alcance: análisis descriptivo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Conflicto: La magnitud del brote 2024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Lo que los datos muestran sobre la escala del fenómeno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411480" y="1097280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11480" y="1170432"/>
            <a:ext cx="192024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748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1455" y="1906433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Casos totales 2022–2025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411480" y="222199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acumulado histórico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566160" y="1110906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3566160" y="1184058"/>
            <a:ext cx="192024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582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3566160" y="190643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Solo en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3566160" y="223561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78% del total en un año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6720840" y="1097280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6812280" y="1191020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390%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583680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Escala 2022→2024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6675130" y="2189992"/>
            <a:ext cx="1920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 1.500 a 582.000 casos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11480" y="26334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Evolución por año — el problema que crece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777240" y="4297680"/>
            <a:ext cx="1188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502920" y="4005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502920" y="462687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2834640" y="4000500"/>
            <a:ext cx="1188720" cy="3429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2560320" y="37078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A8"/>
                </a:solidFill>
                <a:latin typeface="Calibri"/>
                <a:ea typeface="Calibri"/>
                <a:cs typeface="Calibri"/>
                <a:sym typeface="Calibri"/>
              </a:rPr>
              <a:t>147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2560320" y="4645145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4892040" y="2971800"/>
            <a:ext cx="118872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4617720" y="26791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582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4617720" y="470002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6949440" y="4297680"/>
            <a:ext cx="1188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6675120" y="4005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6675120" y="469995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6949450" y="1566550"/>
            <a:ext cx="276600" cy="274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1c14cc918_0_5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1c14cc918_0_53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Temporal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1c14cc918_0_53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Evolución semanal 2022–2025 · Pico sistemático semanas 12–14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1c14cc918_0_53"/>
          <p:cNvSpPr/>
          <p:nvPr/>
        </p:nvSpPr>
        <p:spPr>
          <a:xfrm>
            <a:off x="6554595" y="1844897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f1c14cc918_0_5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187" y="2183577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f1c14cc918_0_53"/>
          <p:cNvSpPr/>
          <p:nvPr/>
        </p:nvSpPr>
        <p:spPr>
          <a:xfrm>
            <a:off x="7121523" y="2229301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Pico Sem. 12–14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1c14cc918_0_53"/>
          <p:cNvSpPr/>
          <p:nvPr/>
        </p:nvSpPr>
        <p:spPr>
          <a:xfrm>
            <a:off x="6554594" y="2832449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f1c14cc918_0_5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9187" y="2997041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1c14cc918_0_53"/>
          <p:cNvSpPr/>
          <p:nvPr/>
        </p:nvSpPr>
        <p:spPr>
          <a:xfrm>
            <a:off x="7121523" y="2960465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2024 concentra el 78%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1c14cc918_0_53"/>
          <p:cNvSpPr/>
          <p:nvPr/>
        </p:nvSpPr>
        <p:spPr>
          <a:xfrm>
            <a:off x="6719187" y="3289649"/>
            <a:ext cx="232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582 mil de los 748 mil casos totales se concentran en un solo año.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1c14cc918_0_53"/>
          <p:cNvSpPr/>
          <p:nvPr/>
        </p:nvSpPr>
        <p:spPr>
          <a:xfrm>
            <a:off x="6554595" y="3820001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f1c14cc918_0_5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9187" y="3984593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1c14cc918_0_53"/>
          <p:cNvSpPr/>
          <p:nvPr/>
        </p:nvSpPr>
        <p:spPr>
          <a:xfrm>
            <a:off x="7121523" y="3948017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Semana pico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1c14cc918_0_53"/>
          <p:cNvSpPr/>
          <p:nvPr/>
        </p:nvSpPr>
        <p:spPr>
          <a:xfrm>
            <a:off x="6719187" y="4277201"/>
            <a:ext cx="232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 el 2024 SE12 hubo 72 mil casos.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1c14cc918_0_53"/>
          <p:cNvSpPr/>
          <p:nvPr/>
        </p:nvSpPr>
        <p:spPr>
          <a:xfrm>
            <a:off x="6554606" y="1388954"/>
            <a:ext cx="2486700" cy="32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Hallazgo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f1c14cc918_0_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7650" y="1757575"/>
            <a:ext cx="6279358" cy="2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Climático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Relación temporal entre clima y casos en 2024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11480" y="1156927"/>
            <a:ext cx="3906078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Condiciones observadas en SE 12-14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16"/>
          <p:cNvGrpSpPr/>
          <p:nvPr/>
        </p:nvGrpSpPr>
        <p:grpSpPr>
          <a:xfrm>
            <a:off x="485875" y="1477144"/>
            <a:ext cx="2400704" cy="658368"/>
            <a:chOff x="6601534" y="1463040"/>
            <a:chExt cx="2400704" cy="658368"/>
          </a:xfrm>
        </p:grpSpPr>
        <p:sp>
          <p:nvSpPr>
            <p:cNvPr id="256" name="Google Shape;256;p16"/>
            <p:cNvSpPr/>
            <p:nvPr/>
          </p:nvSpPr>
          <p:spPr>
            <a:xfrm>
              <a:off x="6601534" y="1463040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7" name="Google Shape;257;p1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20406" y="1527048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6"/>
            <p:cNvSpPr/>
            <p:nvPr/>
          </p:nvSpPr>
          <p:spPr>
            <a:xfrm>
              <a:off x="7067878" y="1508760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Temperatura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7067838" y="1741720"/>
              <a:ext cx="193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18-23°C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6"/>
          <p:cNvGrpSpPr/>
          <p:nvPr/>
        </p:nvGrpSpPr>
        <p:grpSpPr>
          <a:xfrm>
            <a:off x="3355450" y="1490471"/>
            <a:ext cx="2400741" cy="658368"/>
            <a:chOff x="6601534" y="2212848"/>
            <a:chExt cx="2400741" cy="658368"/>
          </a:xfrm>
        </p:grpSpPr>
        <p:sp>
          <p:nvSpPr>
            <p:cNvPr id="261" name="Google Shape;261;p16"/>
            <p:cNvSpPr/>
            <p:nvPr/>
          </p:nvSpPr>
          <p:spPr>
            <a:xfrm>
              <a:off x="6601534" y="2212848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2" name="Google Shape;262;p1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20406" y="2276856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6"/>
            <p:cNvSpPr/>
            <p:nvPr/>
          </p:nvSpPr>
          <p:spPr>
            <a:xfrm>
              <a:off x="7067878" y="2258568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Humedad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067875" y="2510417"/>
              <a:ext cx="193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70-91%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6228608" y="1486288"/>
            <a:ext cx="2400744" cy="658368"/>
            <a:chOff x="2737384" y="1106424"/>
            <a:chExt cx="2400744" cy="658368"/>
          </a:xfrm>
        </p:grpSpPr>
        <p:sp>
          <p:nvSpPr>
            <p:cNvPr id="266" name="Google Shape;266;p16"/>
            <p:cNvSpPr/>
            <p:nvPr/>
          </p:nvSpPr>
          <p:spPr>
            <a:xfrm>
              <a:off x="2737384" y="1106424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7" name="Google Shape;267;p1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30323" y="1161288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16"/>
            <p:cNvSpPr/>
            <p:nvPr/>
          </p:nvSpPr>
          <p:spPr>
            <a:xfrm>
              <a:off x="3203728" y="1152144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Precipitaciones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3203728" y="1412793"/>
              <a:ext cx="193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Significativas en Semanas previas al pico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6"/>
          <p:cNvGrpSpPr/>
          <p:nvPr/>
        </p:nvGrpSpPr>
        <p:grpSpPr>
          <a:xfrm>
            <a:off x="618680" y="4302833"/>
            <a:ext cx="8340549" cy="767515"/>
            <a:chOff x="6601534" y="3767327"/>
            <a:chExt cx="2400667" cy="915085"/>
          </a:xfrm>
        </p:grpSpPr>
        <p:sp>
          <p:nvSpPr>
            <p:cNvPr id="271" name="Google Shape;271;p16"/>
            <p:cNvSpPr/>
            <p:nvPr/>
          </p:nvSpPr>
          <p:spPr>
            <a:xfrm>
              <a:off x="6601534" y="3767327"/>
              <a:ext cx="2400667" cy="915085"/>
            </a:xfrm>
            <a:prstGeom prst="roundRect">
              <a:avLst>
                <a:gd name="adj" fmla="val 6250"/>
              </a:avLst>
            </a:prstGeom>
            <a:solidFill>
              <a:srgbClr val="1B3A6B"/>
            </a:solidFill>
            <a:ln>
              <a:noFill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6681110" y="3822192"/>
              <a:ext cx="2196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A020"/>
                </a:buClr>
                <a:buSzPts val="1000"/>
                <a:buFont typeface="Calibri"/>
                <a:buNone/>
              </a:pPr>
              <a:r>
                <a:rPr lang="en-US" sz="1600" b="1" i="0" u="none" strike="noStrike" cap="none">
                  <a:solidFill>
                    <a:srgbClr val="E8A020"/>
                  </a:solidFill>
                  <a:latin typeface="Calibri"/>
                  <a:ea typeface="Calibri"/>
                  <a:cs typeface="Calibri"/>
                  <a:sym typeface="Calibri"/>
                </a:rPr>
                <a:t>Límite metodológico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6682285" y="4151376"/>
              <a:ext cx="2196199" cy="432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DF4"/>
                </a:buClr>
                <a:buSzPts val="9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E8EDF4"/>
                  </a:solidFill>
                  <a:latin typeface="Arial"/>
                  <a:ea typeface="Arial"/>
                  <a:cs typeface="Arial"/>
                  <a:sym typeface="Arial"/>
                </a:rPr>
                <a:t>Los gráficos muestran coincidencia temporal entre clima y casos. No se establece relación causal, eso requeriría modelos adicionales fuera del alcance de este proyecto.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6"/>
          <p:cNvGrpSpPr/>
          <p:nvPr/>
        </p:nvGrpSpPr>
        <p:grpSpPr>
          <a:xfrm>
            <a:off x="126691" y="2307442"/>
            <a:ext cx="8858183" cy="1679131"/>
            <a:chOff x="97730" y="3368634"/>
            <a:chExt cx="8858183" cy="1679131"/>
          </a:xfrm>
        </p:grpSpPr>
        <p:pic>
          <p:nvPicPr>
            <p:cNvPr id="275" name="Google Shape;275;p16"/>
            <p:cNvPicPr preferRelativeResize="0"/>
            <p:nvPr/>
          </p:nvPicPr>
          <p:blipFill rotWithShape="1">
            <a:blip r:embed="rId6">
              <a:alphaModFix/>
            </a:blip>
            <a:srcRect b="50000"/>
            <a:stretch/>
          </p:blipFill>
          <p:spPr>
            <a:xfrm>
              <a:off x="97730" y="3368634"/>
              <a:ext cx="2989028" cy="167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57242" y="3368634"/>
              <a:ext cx="2898671" cy="167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6"/>
            <p:cNvPicPr preferRelativeResize="0"/>
            <p:nvPr/>
          </p:nvPicPr>
          <p:blipFill rotWithShape="1">
            <a:blip r:embed="rId6">
              <a:alphaModFix/>
            </a:blip>
            <a:srcRect t="49688"/>
            <a:stretch/>
          </p:blipFill>
          <p:spPr>
            <a:xfrm>
              <a:off x="3086758" y="3368634"/>
              <a:ext cx="2970484" cy="16791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f686ec1b1_1_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f686ec1b1_1_0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Geográfico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f686ec1b1_1_0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Distribución territorial de casos absolutos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f686ec1b1_1_0"/>
          <p:cNvSpPr/>
          <p:nvPr/>
        </p:nvSpPr>
        <p:spPr>
          <a:xfrm>
            <a:off x="7418375" y="2583025"/>
            <a:ext cx="1633500" cy="1608000"/>
          </a:xfrm>
          <a:prstGeom prst="roundRect">
            <a:avLst>
              <a:gd name="adj" fmla="val 5333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f686ec1b1_1_0"/>
          <p:cNvSpPr/>
          <p:nvPr/>
        </p:nvSpPr>
        <p:spPr>
          <a:xfrm>
            <a:off x="7505375" y="2665225"/>
            <a:ext cx="1481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Distribución territorial  clave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f686ec1b1_1_0"/>
          <p:cNvSpPr/>
          <p:nvPr/>
        </p:nvSpPr>
        <p:spPr>
          <a:xfrm>
            <a:off x="7614123" y="2966984"/>
            <a:ext cx="13728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Bs. As.</a:t>
            </a: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lidera en casos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absolutos (121 mil).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ef686ec1b1_1_0"/>
          <p:cNvPicPr preferRelativeResize="0"/>
          <p:nvPr/>
        </p:nvPicPr>
        <p:blipFill rotWithShape="1">
          <a:blip r:embed="rId3">
            <a:alphaModFix/>
          </a:blip>
          <a:srcRect t="753" r="636"/>
          <a:stretch/>
        </p:blipFill>
        <p:spPr>
          <a:xfrm>
            <a:off x="156925" y="1143060"/>
            <a:ext cx="7196498" cy="3895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1c14cc918_0_7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1c14cc918_0_74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Demografía vs. Tasa de Incidencia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1c14cc918_0_74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La densidad poblacional no explica el aumento de casos de dengue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1c14cc918_0_74"/>
          <p:cNvSpPr/>
          <p:nvPr/>
        </p:nvSpPr>
        <p:spPr>
          <a:xfrm>
            <a:off x="6550128" y="3081528"/>
            <a:ext cx="2548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Explicación del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1c14cc918_0_74"/>
          <p:cNvSpPr/>
          <p:nvPr/>
        </p:nvSpPr>
        <p:spPr>
          <a:xfrm>
            <a:off x="6573156" y="1231104"/>
            <a:ext cx="2486700" cy="32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Hallazgo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1c14cc918_0_74"/>
          <p:cNvSpPr/>
          <p:nvPr/>
        </p:nvSpPr>
        <p:spPr>
          <a:xfrm>
            <a:off x="6550125" y="1776404"/>
            <a:ext cx="2548500" cy="20340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1c14cc918_0_74"/>
          <p:cNvSpPr/>
          <p:nvPr/>
        </p:nvSpPr>
        <p:spPr>
          <a:xfrm>
            <a:off x="7132450" y="1891026"/>
            <a:ext cx="179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Demográfico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1c14cc918_0_74"/>
          <p:cNvSpPr/>
          <p:nvPr/>
        </p:nvSpPr>
        <p:spPr>
          <a:xfrm>
            <a:off x="6730101" y="2220209"/>
            <a:ext cx="21066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200" b="0" i="1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“Las provincias del norte concentran los valores 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200" b="0" i="1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más altos, mientras que las más densas, como Buenos Aires, registran tasas bajas.”</a:t>
            </a:r>
            <a:endParaRPr sz="1000" b="0" i="0" u="none" strike="noStrike" cap="non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f1c14cc918_0_7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0525" y="1847373"/>
            <a:ext cx="3474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f1c14cc918_0_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062" y="1079052"/>
            <a:ext cx="5848350" cy="3914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1c14cc918_0_11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1c14cc918_0_115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por Grupo Etario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1c14cc918_0_115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Casos absolutos por grupo etario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g3f1c14cc918_0_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58300"/>
            <a:ext cx="7128520" cy="3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1c14cc918_0_9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1c14cc918_0_95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por Grupo Etario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1c14cc918_0_95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Tasa de </a:t>
            </a:r>
            <a:r>
              <a:rPr lang="en-US" sz="1800" b="0" i="0" u="none" strike="noStrike" cap="none" dirty="0" err="1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incidencia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g3f1c14cc918_0_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58300"/>
            <a:ext cx="8580174" cy="358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Hallazgos: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Lo que los datos muestran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11480" y="1115568"/>
            <a:ext cx="3981969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11480" y="1115568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11480" y="1115568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32688" y="1188720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Pico sistemático Sem. Epidemiológica 12-14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32688" y="1463040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 constante desde 2022 al 2025. Coincide temporalmente con temperaturas de 18 - 23°C y humedad de 70 - 91%.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599432" y="1115568"/>
            <a:ext cx="413308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599432" y="1115568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599432" y="1115568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120640" y="1188720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El norte lidera en tasa; la zona centro en volumen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120640" y="1463040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Tucumán: 6.304 casos cada 100.000 habitantes. Buenos Aires: 702 casos cada 100.000 habitantes. Analizar sin normalizar invierte la lectura.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2240280"/>
            <a:ext cx="3981969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2240280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11480" y="224028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32688" y="2313432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2024: brote de escala excepcional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932688" y="2587752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582 mil casos, 78% del acumulado histórico en un año.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Escala 390% respecto a 2022.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599432" y="2240280"/>
            <a:ext cx="413308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599432" y="2240280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599432" y="224028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120640" y="2313432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Grupo 25-34 lidera en tasa etaria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120640" y="2587752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rango etario de 45-65 años lidera en valores absolutos. Al normalizar por población, el orden cambia. El mismo patrón que observamos con las provincias.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11480" y="3364992"/>
            <a:ext cx="8321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11480" y="3364992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11480" y="3364992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41832" y="34381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Densidad poblacional no explica la incidencia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941832" y="3712464"/>
            <a:ext cx="76556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relación entre densidad y tasa no muestra correlación directa. Las provincias del norte tienen los valores más altos con densidades medias. El patrón observado parece más asociado a diferencias territoriales que a densidad poblacional.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"/>
          <p:cNvSpPr/>
          <p:nvPr/>
        </p:nvSpPr>
        <p:spPr>
          <a:xfrm>
            <a:off x="457200" y="39331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00"/>
              <a:buFont typeface="Arial"/>
              <a:buNone/>
            </a:pPr>
            <a:r>
              <a:rPr lang="en-US" sz="16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57200" y="685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responden los datos a la pregunta guía?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457200" y="226004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960120" y="2144280"/>
            <a:ext cx="7526038" cy="5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 dengue en Argentina muestra un pico estacional sistemático en semanas 12–14, observable en todos los años analizados y coincidente con temperaturas de 18–23°C y humedad elevada.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57200" y="301285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60119" y="2907052"/>
            <a:ext cx="7526037" cy="5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La distribución geográfica se concentra en el norte del país por tasa de incidencia, Tucumán 9 veces sobre Buenos Aires, aunque el volumen absoluto aparece distribuido de otra manera.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60847" y="380398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960120" y="3764184"/>
            <a:ext cx="7526036" cy="42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tiene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en total no es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afectado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habitante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: ese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lugar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lo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ocupa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rango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de 25 a 34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años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0"/>
          <p:cNvCxnSpPr/>
          <p:nvPr/>
        </p:nvCxnSpPr>
        <p:spPr>
          <a:xfrm>
            <a:off x="378258" y="4731526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1" name="Google Shape;3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9744" y="0"/>
            <a:ext cx="1868271" cy="1868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/>
          <p:nvPr/>
        </p:nvSpPr>
        <p:spPr>
          <a:xfrm>
            <a:off x="478950" y="1342750"/>
            <a:ext cx="69699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00"/>
              <a:buFont typeface="Arial"/>
              <a:buNone/>
            </a:pPr>
            <a:r>
              <a:rPr lang="en-US" sz="19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¿Qué patrones epidemiológicos son observables en la evolución del dengue en Argentina entre 2022 y 2025?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1099</Words>
  <Application>Microsoft Office PowerPoint</Application>
  <PresentationFormat>On-screen Show (16:9)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Juan Pablo Monllor</cp:lastModifiedBy>
  <cp:revision>5</cp:revision>
  <dcterms:created xsi:type="dcterms:W3CDTF">2026-06-12T01:26:35Z</dcterms:created>
  <dcterms:modified xsi:type="dcterms:W3CDTF">2026-07-05T02:27:50Z</dcterms:modified>
</cp:coreProperties>
</file>