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14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hPI7Bbaz2hqZI98vfa1noZA1YT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mir Kalasnicoy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622" autoAdjust="0"/>
  </p:normalViewPr>
  <p:slideViewPr>
    <p:cSldViewPr snapToGrid="0">
      <p:cViewPr varScale="1">
        <p:scale>
          <a:sx n="160" d="100"/>
          <a:sy n="160" d="100"/>
        </p:scale>
        <p:origin x="514" y="110"/>
      </p:cViewPr>
      <p:guideLst/>
    </p:cSldViewPr>
  </p:slideViewPr>
  <p:notesTextViewPr>
    <p:cViewPr>
      <p:scale>
        <a:sx n="99" d="100"/>
        <a:sy n="99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27T02:22:26.125" idx="1">
    <p:pos x="6000" y="0"/>
    <p:text>para que no quede tan vacio podriamos poner la unidad de medida que usamos para cada pregunta, cuando? -&gt; evolucion semanal, donde ? -&gt; distribucion territorial, a quien?-&gt; grupo etario. 
Algo asi como para que no quede tan vacio (tampoco es a fuerza ponerlo, lo digo como sugerencia)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AIaFEK4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27T02:25:26.208" idx="2">
    <p:pos x="6000" y="0"/>
    <p:text>cambie el subtitulo, no se si poner "Casos absolutos por grupo etario vs. tasa de incidencia por grupo etario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AIaFEK8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27T02:16:15.928" idx="3">
    <p:pos x="6000" y="0"/>
    <p:text>capaz no veria mal en este slide agrandar un poco las letras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AIaFEK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s-AR" sz="1200" dirty="0"/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14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s-AR" sz="1200" dirty="0"/>
          </a:p>
        </p:txBody>
      </p:sp>
      <p:sp>
        <p:nvSpPr>
          <p:cNvPr id="85" name="Google Shape;85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1c14cc918_0_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32" name="Google Shape;132;g3f1c14cc91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1b428b7a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g3f1b428b7a3_0_5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s-AR" sz="1200" dirty="0"/>
          </a:p>
        </p:txBody>
      </p:sp>
      <p:sp>
        <p:nvSpPr>
          <p:cNvPr id="159" name="Google Shape;159;g3f1b428b7a3_0_5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1c14cc91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g3f1c14cc918_0_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s-AR" sz="1200" dirty="0"/>
          </a:p>
        </p:txBody>
      </p:sp>
      <p:sp>
        <p:nvSpPr>
          <p:cNvPr id="174" name="Google Shape;174;g3f1c14cc918_0_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s-AR" sz="1200" dirty="0"/>
          </a:p>
        </p:txBody>
      </p:sp>
      <p:sp>
        <p:nvSpPr>
          <p:cNvPr id="194" name="Google Shape;19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1c14cc91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7" name="Google Shape;227;g3f1c14cc918_0_5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s-AR" sz="1200" dirty="0"/>
          </a:p>
        </p:txBody>
      </p:sp>
      <p:sp>
        <p:nvSpPr>
          <p:cNvPr id="228" name="Google Shape;228;g3f1c14cc918_0_5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s-AR" sz="1200" dirty="0"/>
          </a:p>
        </p:txBody>
      </p:sp>
      <p:sp>
        <p:nvSpPr>
          <p:cNvPr id="249" name="Google Shape;249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ef686ec1b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ef686ec1b1_1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s-AR" sz="1200" dirty="0"/>
          </a:p>
        </p:txBody>
      </p:sp>
      <p:sp>
        <p:nvSpPr>
          <p:cNvPr id="281" name="Google Shape;281;g3ef686ec1b1_1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1c14cc918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f1c14cc918_0_7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s-AR" sz="1200" dirty="0"/>
          </a:p>
        </p:txBody>
      </p:sp>
      <p:sp>
        <p:nvSpPr>
          <p:cNvPr id="293" name="Google Shape;293;g3f1c14cc918_0_7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1c14cc918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7" name="Google Shape;307;g3f1c14cc918_0_1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308" name="Google Shape;308;g3f1c14cc918_0_1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1c14cc91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g3f1c14cc918_0_9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s-AR" sz="1200" dirty="0"/>
          </a:p>
        </p:txBody>
      </p:sp>
      <p:sp>
        <p:nvSpPr>
          <p:cNvPr id="317" name="Google Shape;317;g3f1c14cc918_0_9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326" name="Google Shape;32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indent="0">
              <a:buNone/>
            </a:pPr>
            <a:endParaRPr lang="es-AR" sz="1200" dirty="0"/>
          </a:p>
        </p:txBody>
      </p:sp>
      <p:sp>
        <p:nvSpPr>
          <p:cNvPr id="360" name="Google Shape;360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1.xml"/><Relationship Id="rId5" Type="http://schemas.openxmlformats.org/officeDocument/2006/relationships/image" Target="../media/image19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372825" y="2641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900"/>
              <a:buFont typeface="Arial"/>
              <a:buNone/>
            </a:pPr>
            <a:r>
              <a:rPr lang="en-US" sz="14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PRÁCTICAS PROFESIONALIZANTES I — EQUIPO 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72825" y="783455"/>
            <a:ext cx="7206300" cy="106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MONITOREO EPIDEMIOLÓGICO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 DENGUE EN ARGENTINA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72825" y="2105405"/>
            <a:ext cx="7251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500"/>
              <a:buFont typeface="Arial"/>
              <a:buNone/>
            </a:pPr>
            <a:r>
              <a:rPr lang="en-US" sz="2300" b="1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2022 - 2025 · Análisis descriptivo multidimensional</a:t>
            </a:r>
            <a:endParaRPr sz="23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72825" y="3291850"/>
            <a:ext cx="2644800" cy="1399500"/>
          </a:xfrm>
          <a:prstGeom prst="roundRect">
            <a:avLst>
              <a:gd name="adj" fmla="val 8235"/>
            </a:avLst>
          </a:prstGeom>
          <a:solidFill>
            <a:srgbClr val="1B3A6B">
              <a:alpha val="70196"/>
            </a:srgbClr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64000" y="3290875"/>
            <a:ext cx="1620000" cy="9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200"/>
              <a:buFont typeface="Calibri"/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748 mil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76750" y="4391175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900"/>
              <a:buFont typeface="Arial"/>
              <a:buNone/>
            </a:pPr>
            <a:r>
              <a:rPr lang="en-US" sz="1500" b="0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casos totales registrados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200400" y="3291850"/>
            <a:ext cx="2743200" cy="1399500"/>
          </a:xfrm>
          <a:prstGeom prst="roundRect">
            <a:avLst>
              <a:gd name="adj" fmla="val 8235"/>
            </a:avLst>
          </a:prstGeom>
          <a:solidFill>
            <a:srgbClr val="1B3A6B">
              <a:alpha val="70196"/>
            </a:srgbClr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503250" y="3291850"/>
            <a:ext cx="2137500" cy="9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200"/>
              <a:buFont typeface="Calibri"/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años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319350" y="4391675"/>
            <a:ext cx="25053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900"/>
              <a:buFont typeface="Arial"/>
              <a:buNone/>
            </a:pPr>
            <a:r>
              <a:rPr lang="en-US" sz="1500" b="0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de vigilancia epidemiológica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126375" y="3291650"/>
            <a:ext cx="2743200" cy="1399500"/>
          </a:xfrm>
          <a:prstGeom prst="roundRect">
            <a:avLst>
              <a:gd name="adj" fmla="val 8235"/>
            </a:avLst>
          </a:prstGeom>
          <a:solidFill>
            <a:srgbClr val="1B3A6B">
              <a:alpha val="70196"/>
            </a:srgbClr>
          </a:solidFill>
          <a:ln w="12700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126425" y="3290875"/>
            <a:ext cx="2743200" cy="9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200"/>
              <a:buFont typeface="Calibri"/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36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2200"/>
              <a:buFont typeface="Calibri"/>
              <a:buNone/>
            </a:pPr>
            <a:r>
              <a:rPr lang="en-US" sz="36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jurisdicciones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614625" y="4371050"/>
            <a:ext cx="1766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900"/>
              <a:buFont typeface="Arial"/>
              <a:buNone/>
            </a:pPr>
            <a:r>
              <a:rPr lang="en-US" sz="1500" b="0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bajo análisis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5729" y="0"/>
            <a:ext cx="1868271" cy="186827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"/>
          <p:cNvSpPr/>
          <p:nvPr/>
        </p:nvSpPr>
        <p:spPr>
          <a:xfrm>
            <a:off x="274345" y="483000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Tecnicatura en Ciencia de Datos e IA  |  CPS Malvinas Argentinas  |  2026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" descr="preencoded.png"/>
          <p:cNvPicPr preferRelativeResize="0"/>
          <p:nvPr/>
        </p:nvPicPr>
        <p:blipFill rotWithShape="1">
          <a:blip r:embed="rId4">
            <a:alphaModFix amt="30000"/>
          </a:blip>
          <a:srcRect/>
          <a:stretch/>
        </p:blipFill>
        <p:spPr>
          <a:xfrm>
            <a:off x="6649808" y="1292426"/>
            <a:ext cx="633288" cy="657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4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4"/>
          <p:cNvSpPr/>
          <p:nvPr/>
        </p:nvSpPr>
        <p:spPr>
          <a:xfrm>
            <a:off x="457200" y="0"/>
            <a:ext cx="77724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Nuestro Equipo de Trabajo</a:t>
            </a: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" name="Google Shape;33;p14"/>
          <p:cNvGrpSpPr/>
          <p:nvPr/>
        </p:nvGrpSpPr>
        <p:grpSpPr>
          <a:xfrm>
            <a:off x="397812" y="1408242"/>
            <a:ext cx="1980000" cy="3240000"/>
            <a:chOff x="471605" y="1395086"/>
            <a:chExt cx="1980000" cy="3240000"/>
          </a:xfrm>
        </p:grpSpPr>
        <p:sp>
          <p:nvSpPr>
            <p:cNvPr id="34" name="Google Shape;34;p14"/>
            <p:cNvSpPr/>
            <p:nvPr/>
          </p:nvSpPr>
          <p:spPr>
            <a:xfrm>
              <a:off x="471605" y="1395086"/>
              <a:ext cx="1980000" cy="32400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8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25400" dir="8100000" algn="bl" rotWithShape="0">
                <a:srgbClr val="000000">
                  <a:alpha val="784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4"/>
            <p:cNvSpPr/>
            <p:nvPr/>
          </p:nvSpPr>
          <p:spPr>
            <a:xfrm>
              <a:off x="569867" y="2571750"/>
              <a:ext cx="178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D1B3E"/>
                </a:buClr>
                <a:buSzPts val="1300"/>
                <a:buFont typeface="Calibri"/>
                <a:buNone/>
              </a:pP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KALASNICOY</a:t>
              </a:r>
              <a:b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Amir</a:t>
              </a: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" name="Google Shape;36;p14"/>
            <p:cNvGrpSpPr/>
            <p:nvPr/>
          </p:nvGrpSpPr>
          <p:grpSpPr>
            <a:xfrm>
              <a:off x="569867" y="3108900"/>
              <a:ext cx="1783201" cy="1355125"/>
              <a:chOff x="569867" y="3108900"/>
              <a:chExt cx="1783201" cy="1355125"/>
            </a:xfrm>
          </p:grpSpPr>
          <p:sp>
            <p:nvSpPr>
              <p:cNvPr id="37" name="Google Shape;37;p14"/>
              <p:cNvSpPr/>
              <p:nvPr/>
            </p:nvSpPr>
            <p:spPr>
              <a:xfrm>
                <a:off x="569867" y="3108900"/>
                <a:ext cx="1783200" cy="1355125"/>
              </a:xfrm>
              <a:prstGeom prst="rect">
                <a:avLst/>
              </a:prstGeom>
              <a:solidFill>
                <a:srgbClr val="E8F4F8"/>
              </a:solidFill>
              <a:ln w="9525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14"/>
              <p:cNvSpPr/>
              <p:nvPr/>
            </p:nvSpPr>
            <p:spPr>
              <a:xfrm>
                <a:off x="569868" y="3160574"/>
                <a:ext cx="1783200" cy="1255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Análisis de datos: </a:t>
                </a:r>
                <a:endParaRPr sz="1200" b="0" i="0" u="none" strike="noStrike" cap="none">
                  <a:solidFill>
                    <a:srgbClr val="1B8EA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Encargado de explorar los datos para encontrar tendencias, comparaciones y puntos clave del análisis.</a:t>
                </a:r>
                <a:endParaRPr sz="1200" b="0" i="0" u="none" strike="noStrike" cap="none">
                  <a:solidFill>
                    <a:srgbClr val="1B8EA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" name="Google Shape;39;p14"/>
            <p:cNvGrpSpPr/>
            <p:nvPr/>
          </p:nvGrpSpPr>
          <p:grpSpPr>
            <a:xfrm>
              <a:off x="478517" y="1397400"/>
              <a:ext cx="1965900" cy="1051950"/>
              <a:chOff x="478517" y="1397400"/>
              <a:chExt cx="1965900" cy="1051950"/>
            </a:xfrm>
          </p:grpSpPr>
          <p:sp>
            <p:nvSpPr>
              <p:cNvPr id="40" name="Google Shape;40;p14"/>
              <p:cNvSpPr/>
              <p:nvPr/>
            </p:nvSpPr>
            <p:spPr>
              <a:xfrm>
                <a:off x="478517" y="1397400"/>
                <a:ext cx="1965900" cy="63900"/>
              </a:xfrm>
              <a:prstGeom prst="rect">
                <a:avLst/>
              </a:prstGeom>
              <a:solidFill>
                <a:srgbClr val="00B4D8"/>
              </a:solidFill>
              <a:ln w="12700" cap="flat" cmpd="sng">
                <a:solidFill>
                  <a:srgbClr val="00B4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14"/>
              <p:cNvSpPr/>
              <p:nvPr/>
            </p:nvSpPr>
            <p:spPr>
              <a:xfrm>
                <a:off x="1077467" y="1597350"/>
                <a:ext cx="768000" cy="768000"/>
              </a:xfrm>
              <a:prstGeom prst="ellipse">
                <a:avLst/>
              </a:prstGeom>
              <a:solidFill>
                <a:srgbClr val="0D1B3E"/>
              </a:solidFill>
              <a:ln w="254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ellipse">
                <a:avLst/>
              </a:prstGeom>
              <a:solidFill>
                <a:srgbClr val="1B8EAD"/>
              </a:solidFill>
              <a:ln w="127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4" name="Google Shape;44;p1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17735" y="1513350"/>
                <a:ext cx="936000" cy="936000"/>
              </a:xfrm>
              <a:prstGeom prst="ellipse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45" name="Google Shape;45;p14"/>
          <p:cNvGrpSpPr/>
          <p:nvPr/>
        </p:nvGrpSpPr>
        <p:grpSpPr>
          <a:xfrm>
            <a:off x="4655091" y="1408242"/>
            <a:ext cx="1980000" cy="3240000"/>
            <a:chOff x="471605" y="1395086"/>
            <a:chExt cx="1980000" cy="3240000"/>
          </a:xfrm>
        </p:grpSpPr>
        <p:sp>
          <p:nvSpPr>
            <p:cNvPr id="46" name="Google Shape;46;p14"/>
            <p:cNvSpPr/>
            <p:nvPr/>
          </p:nvSpPr>
          <p:spPr>
            <a:xfrm>
              <a:off x="471605" y="1395086"/>
              <a:ext cx="1980000" cy="32400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8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25400" dir="8100000" algn="bl" rotWithShape="0">
                <a:srgbClr val="000000">
                  <a:alpha val="784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4"/>
            <p:cNvSpPr/>
            <p:nvPr/>
          </p:nvSpPr>
          <p:spPr>
            <a:xfrm>
              <a:off x="569867" y="2571750"/>
              <a:ext cx="178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MONLLOR</a:t>
              </a:r>
              <a:b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Juan Pablo</a:t>
              </a: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" name="Google Shape;48;p14"/>
            <p:cNvGrpSpPr/>
            <p:nvPr/>
          </p:nvGrpSpPr>
          <p:grpSpPr>
            <a:xfrm>
              <a:off x="569867" y="3108900"/>
              <a:ext cx="1783201" cy="1355125"/>
              <a:chOff x="569867" y="3108900"/>
              <a:chExt cx="1783201" cy="1355125"/>
            </a:xfrm>
          </p:grpSpPr>
          <p:sp>
            <p:nvSpPr>
              <p:cNvPr id="49" name="Google Shape;49;p14"/>
              <p:cNvSpPr/>
              <p:nvPr/>
            </p:nvSpPr>
            <p:spPr>
              <a:xfrm>
                <a:off x="569867" y="3108900"/>
                <a:ext cx="1783200" cy="1355125"/>
              </a:xfrm>
              <a:prstGeom prst="rect">
                <a:avLst/>
              </a:prstGeom>
              <a:solidFill>
                <a:srgbClr val="E8F4F8"/>
              </a:solidFill>
              <a:ln w="9525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14"/>
              <p:cNvSpPr/>
              <p:nvPr/>
            </p:nvSpPr>
            <p:spPr>
              <a:xfrm>
                <a:off x="569868" y="3160574"/>
                <a:ext cx="1783200" cy="1255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Visualización: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Encargado de transformar los números y análisis complejos en gráficos fáciles de entender.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" name="Google Shape;51;p14"/>
            <p:cNvGrpSpPr/>
            <p:nvPr/>
          </p:nvGrpSpPr>
          <p:grpSpPr>
            <a:xfrm>
              <a:off x="478517" y="1397400"/>
              <a:ext cx="1965900" cy="967950"/>
              <a:chOff x="478517" y="1397400"/>
              <a:chExt cx="1965900" cy="967950"/>
            </a:xfrm>
          </p:grpSpPr>
          <p:sp>
            <p:nvSpPr>
              <p:cNvPr id="52" name="Google Shape;52;p14"/>
              <p:cNvSpPr/>
              <p:nvPr/>
            </p:nvSpPr>
            <p:spPr>
              <a:xfrm>
                <a:off x="478517" y="1397400"/>
                <a:ext cx="1965900" cy="63900"/>
              </a:xfrm>
              <a:prstGeom prst="rect">
                <a:avLst/>
              </a:prstGeom>
              <a:solidFill>
                <a:srgbClr val="00B4D8"/>
              </a:solidFill>
              <a:ln w="12700" cap="flat" cmpd="sng">
                <a:solidFill>
                  <a:srgbClr val="00B4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14"/>
              <p:cNvSpPr/>
              <p:nvPr/>
            </p:nvSpPr>
            <p:spPr>
              <a:xfrm>
                <a:off x="1077467" y="1597350"/>
                <a:ext cx="768000" cy="768000"/>
              </a:xfrm>
              <a:prstGeom prst="ellipse">
                <a:avLst/>
              </a:prstGeom>
              <a:solidFill>
                <a:srgbClr val="0D1B3E"/>
              </a:solidFill>
              <a:ln w="254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ellipse">
                <a:avLst/>
              </a:prstGeom>
              <a:solidFill>
                <a:srgbClr val="1B8EAD"/>
              </a:solidFill>
              <a:ln w="127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6" name="Google Shape;56;p14"/>
          <p:cNvGrpSpPr/>
          <p:nvPr/>
        </p:nvGrpSpPr>
        <p:grpSpPr>
          <a:xfrm>
            <a:off x="6766188" y="1408242"/>
            <a:ext cx="1980000" cy="3240000"/>
            <a:chOff x="471605" y="1395086"/>
            <a:chExt cx="1980000" cy="3240000"/>
          </a:xfrm>
        </p:grpSpPr>
        <p:sp>
          <p:nvSpPr>
            <p:cNvPr id="57" name="Google Shape;57;p14"/>
            <p:cNvSpPr/>
            <p:nvPr/>
          </p:nvSpPr>
          <p:spPr>
            <a:xfrm>
              <a:off x="471605" y="1395086"/>
              <a:ext cx="1980000" cy="32400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8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25400" dir="8100000" algn="bl" rotWithShape="0">
                <a:srgbClr val="000000">
                  <a:alpha val="784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569867" y="2571750"/>
              <a:ext cx="178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ROA</a:t>
              </a:r>
              <a:b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Tamara</a:t>
              </a: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14"/>
            <p:cNvGrpSpPr/>
            <p:nvPr/>
          </p:nvGrpSpPr>
          <p:grpSpPr>
            <a:xfrm>
              <a:off x="569867" y="3108900"/>
              <a:ext cx="1783201" cy="1355125"/>
              <a:chOff x="569867" y="3108900"/>
              <a:chExt cx="1783201" cy="1355125"/>
            </a:xfrm>
          </p:grpSpPr>
          <p:sp>
            <p:nvSpPr>
              <p:cNvPr id="60" name="Google Shape;60;p14"/>
              <p:cNvSpPr/>
              <p:nvPr/>
            </p:nvSpPr>
            <p:spPr>
              <a:xfrm>
                <a:off x="569867" y="3108900"/>
                <a:ext cx="1783200" cy="1355125"/>
              </a:xfrm>
              <a:prstGeom prst="rect">
                <a:avLst/>
              </a:prstGeom>
              <a:solidFill>
                <a:srgbClr val="E8F4F8"/>
              </a:solidFill>
              <a:ln w="9525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14"/>
              <p:cNvSpPr/>
              <p:nvPr/>
            </p:nvSpPr>
            <p:spPr>
              <a:xfrm>
                <a:off x="569868" y="3160574"/>
                <a:ext cx="1783200" cy="1255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Presentación y comunicación: 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Traduce los hallazgos del análisis en conclusiones claras y las comunica al público.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" name="Google Shape;62;p14"/>
            <p:cNvGrpSpPr/>
            <p:nvPr/>
          </p:nvGrpSpPr>
          <p:grpSpPr>
            <a:xfrm>
              <a:off x="478517" y="1397400"/>
              <a:ext cx="1965900" cy="967950"/>
              <a:chOff x="478517" y="1397400"/>
              <a:chExt cx="1965900" cy="967950"/>
            </a:xfrm>
          </p:grpSpPr>
          <p:sp>
            <p:nvSpPr>
              <p:cNvPr id="63" name="Google Shape;63;p14"/>
              <p:cNvSpPr/>
              <p:nvPr/>
            </p:nvSpPr>
            <p:spPr>
              <a:xfrm>
                <a:off x="478517" y="1397400"/>
                <a:ext cx="1965900" cy="63900"/>
              </a:xfrm>
              <a:prstGeom prst="rect">
                <a:avLst/>
              </a:prstGeom>
              <a:solidFill>
                <a:srgbClr val="00B4D8"/>
              </a:solidFill>
              <a:ln w="12700" cap="flat" cmpd="sng">
                <a:solidFill>
                  <a:srgbClr val="00B4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14"/>
              <p:cNvSpPr/>
              <p:nvPr/>
            </p:nvSpPr>
            <p:spPr>
              <a:xfrm>
                <a:off x="1077467" y="1597350"/>
                <a:ext cx="768000" cy="768000"/>
              </a:xfrm>
              <a:prstGeom prst="ellipse">
                <a:avLst/>
              </a:prstGeom>
              <a:solidFill>
                <a:srgbClr val="0D1B3E"/>
              </a:solidFill>
              <a:ln w="254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ellipse">
                <a:avLst/>
              </a:prstGeom>
              <a:solidFill>
                <a:srgbClr val="1B8EAD"/>
              </a:solidFill>
              <a:ln w="127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" name="Google Shape;67;p14"/>
          <p:cNvGrpSpPr/>
          <p:nvPr/>
        </p:nvGrpSpPr>
        <p:grpSpPr>
          <a:xfrm>
            <a:off x="2543994" y="1408242"/>
            <a:ext cx="1980000" cy="3240000"/>
            <a:chOff x="2543994" y="1408242"/>
            <a:chExt cx="1980000" cy="3240000"/>
          </a:xfrm>
        </p:grpSpPr>
        <p:sp>
          <p:nvSpPr>
            <p:cNvPr id="68" name="Google Shape;68;p14"/>
            <p:cNvSpPr/>
            <p:nvPr/>
          </p:nvSpPr>
          <p:spPr>
            <a:xfrm>
              <a:off x="2543994" y="1408242"/>
              <a:ext cx="1980000" cy="32400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D8E8F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25400" dir="8100000" algn="bl" rotWithShape="0">
                <a:srgbClr val="000000">
                  <a:alpha val="7843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2642256" y="2584906"/>
              <a:ext cx="17832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MARTÍNEZ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D1B3E"/>
                  </a:solidFill>
                  <a:latin typeface="Calibri"/>
                  <a:ea typeface="Calibri"/>
                  <a:cs typeface="Calibri"/>
                  <a:sym typeface="Calibri"/>
                </a:rPr>
                <a:t>Lionel</a:t>
              </a: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" name="Google Shape;70;p14"/>
            <p:cNvGrpSpPr/>
            <p:nvPr/>
          </p:nvGrpSpPr>
          <p:grpSpPr>
            <a:xfrm>
              <a:off x="2642256" y="3122056"/>
              <a:ext cx="1783201" cy="1355125"/>
              <a:chOff x="569867" y="3108900"/>
              <a:chExt cx="1783201" cy="1355125"/>
            </a:xfrm>
          </p:grpSpPr>
          <p:sp>
            <p:nvSpPr>
              <p:cNvPr id="71" name="Google Shape;71;p14"/>
              <p:cNvSpPr/>
              <p:nvPr/>
            </p:nvSpPr>
            <p:spPr>
              <a:xfrm>
                <a:off x="569867" y="3108900"/>
                <a:ext cx="1783200" cy="1355125"/>
              </a:xfrm>
              <a:prstGeom prst="rect">
                <a:avLst/>
              </a:prstGeom>
              <a:solidFill>
                <a:srgbClr val="E8F4F8"/>
              </a:solidFill>
              <a:ln w="9525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4"/>
              <p:cNvSpPr/>
              <p:nvPr/>
            </p:nvSpPr>
            <p:spPr>
              <a:xfrm>
                <a:off x="569868" y="3160574"/>
                <a:ext cx="1783200" cy="1255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Procesamiento de datos: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en-US" sz="1200" b="0" i="0" u="none" strike="noStrike" cap="none">
                    <a:solidFill>
                      <a:srgbClr val="1B8EA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Preparar, limpiar y organizar los datos para que puedan ser analizados.</a:t>
                </a:r>
                <a:endParaRPr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14"/>
            <p:cNvGrpSpPr/>
            <p:nvPr/>
          </p:nvGrpSpPr>
          <p:grpSpPr>
            <a:xfrm>
              <a:off x="2550906" y="1410556"/>
              <a:ext cx="1965900" cy="967950"/>
              <a:chOff x="478517" y="1397400"/>
              <a:chExt cx="1965900" cy="967950"/>
            </a:xfrm>
          </p:grpSpPr>
          <p:sp>
            <p:nvSpPr>
              <p:cNvPr id="74" name="Google Shape;74;p14"/>
              <p:cNvSpPr/>
              <p:nvPr/>
            </p:nvSpPr>
            <p:spPr>
              <a:xfrm>
                <a:off x="478517" y="1397400"/>
                <a:ext cx="1965900" cy="63900"/>
              </a:xfrm>
              <a:prstGeom prst="rect">
                <a:avLst/>
              </a:prstGeom>
              <a:solidFill>
                <a:srgbClr val="00B4D8"/>
              </a:solidFill>
              <a:ln w="12700" cap="flat" cmpd="sng">
                <a:solidFill>
                  <a:srgbClr val="00B4D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14"/>
              <p:cNvSpPr/>
              <p:nvPr/>
            </p:nvSpPr>
            <p:spPr>
              <a:xfrm>
                <a:off x="1077467" y="1597350"/>
                <a:ext cx="768000" cy="768000"/>
              </a:xfrm>
              <a:prstGeom prst="ellipse">
                <a:avLst/>
              </a:prstGeom>
              <a:solidFill>
                <a:srgbClr val="0D1B3E"/>
              </a:solidFill>
              <a:ln w="254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ellipse">
                <a:avLst/>
              </a:prstGeom>
              <a:solidFill>
                <a:srgbClr val="1B8EAD"/>
              </a:solidFill>
              <a:ln w="12700" cap="flat" cmpd="sng">
                <a:solidFill>
                  <a:srgbClr val="1B8EA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14"/>
              <p:cNvSpPr/>
              <p:nvPr/>
            </p:nvSpPr>
            <p:spPr>
              <a:xfrm>
                <a:off x="2084832" y="1417320"/>
                <a:ext cx="2925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100"/>
                  <a:buFont typeface="Calibri"/>
                  <a:buNone/>
                </a:pPr>
                <a:r>
                  <a:rPr lang="en-US" sz="1100" b="1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78" name="Google Shape;78;p1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069796" y="1560480"/>
              <a:ext cx="936000" cy="936000"/>
            </a:xfrm>
            <a:prstGeom prst="ellipse">
              <a:avLst/>
            </a:prstGeom>
            <a:noFill/>
            <a:ln>
              <a:noFill/>
            </a:ln>
          </p:spPr>
        </p:pic>
      </p:grpSp>
      <p:pic>
        <p:nvPicPr>
          <p:cNvPr id="79" name="Google Shape;79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75520" y="1563711"/>
            <a:ext cx="938865" cy="932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01458" y="1561726"/>
            <a:ext cx="936000" cy="936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81" name="Google Shape;81;p14"/>
          <p:cNvSpPr/>
          <p:nvPr/>
        </p:nvSpPr>
        <p:spPr>
          <a:xfrm>
            <a:off x="274345" y="483000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Tecnicatura en Ciencia de Datos e IA  |  CPS Malvinas Argentinas  |  2026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D1B3E"/>
          </a:solidFill>
          <a:ln w="12700" cap="flat" cmpd="sng">
            <a:solidFill>
              <a:srgbClr val="0D1B3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457200" y="0"/>
            <a:ext cx="82296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Herramientas y Organización</a:t>
            </a: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273761" y="1188720"/>
            <a:ext cx="4252793" cy="3566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273761" y="1188720"/>
            <a:ext cx="4252209" cy="457200"/>
          </a:xfrm>
          <a:prstGeom prst="rect">
            <a:avLst/>
          </a:prstGeom>
          <a:solidFill>
            <a:srgbClr val="1F4068"/>
          </a:solidFill>
          <a:ln w="12700" cap="flat" cmpd="sng">
            <a:solidFill>
              <a:srgbClr val="1F40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385333" y="1189656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🛠  HERRAMIENTAS UTILIZADAS 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94085" y="1773888"/>
            <a:ext cx="548700" cy="548700"/>
          </a:xfrm>
          <a:prstGeom prst="ellipse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2113" y="190195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1226772" y="1761363"/>
            <a:ext cx="1874237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Open Refine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203485" y="2011945"/>
            <a:ext cx="1897524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Carga y limpieza de datos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563735" y="2733892"/>
            <a:ext cx="548700" cy="548700"/>
          </a:xfrm>
          <a:prstGeom prst="ellipse">
            <a:avLst/>
          </a:prstGeom>
          <a:solidFill>
            <a:srgbClr val="1B8EAD"/>
          </a:solidFill>
          <a:ln w="12700" cap="flat" cmpd="sng">
            <a:solidFill>
              <a:srgbClr val="1B8EA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776" y="2861945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1142785" y="2720343"/>
            <a:ext cx="1958224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400"/>
              <a:buFont typeface="Calibri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Power BI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1142785" y="2999262"/>
            <a:ext cx="1958224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10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Visualización e informes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4617385" y="1188720"/>
            <a:ext cx="4252209" cy="35661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D8E8F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4616801" y="1188720"/>
            <a:ext cx="4252209" cy="457200"/>
          </a:xfrm>
          <a:prstGeom prst="rect">
            <a:avLst/>
          </a:prstGeom>
          <a:solidFill>
            <a:srgbClr val="1F4068"/>
          </a:solidFill>
          <a:ln w="12700" cap="flat" cmpd="sng">
            <a:solidFill>
              <a:srgbClr val="1F40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731255" y="1189656"/>
            <a:ext cx="40233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👥  ORGANIZACIÓN DEL EQUIPO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4892040" y="1810512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5074920" y="1810638"/>
            <a:ext cx="2362101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Trabajo colaborativo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074920" y="2064200"/>
            <a:ext cx="2317823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5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División de tareas por etapas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4892040" y="2523744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5074920" y="2523888"/>
            <a:ext cx="2317823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Reuniones de equipo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5074920" y="2768432"/>
            <a:ext cx="2362101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5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Revisión conjunta de avances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4892040" y="3236976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5074920" y="3237771"/>
            <a:ext cx="2362101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074920" y="3492876"/>
            <a:ext cx="2317823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5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Seguimiento y entregables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892040" y="3950208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074920" y="3950352"/>
            <a:ext cx="2362101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1800" b="1" i="0" u="none" strike="noStrike" cap="non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Comunicación activa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074920" y="4206108"/>
            <a:ext cx="2314098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1050"/>
              <a:buFont typeface="Calibri"/>
              <a:buNone/>
            </a:pPr>
            <a:r>
              <a:rPr lang="en-US" sz="14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Coordinación continua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478476" y="1810500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78476" y="2770503"/>
            <a:ext cx="54900" cy="475500"/>
          </a:xfrm>
          <a:prstGeom prst="rect">
            <a:avLst/>
          </a:prstGeom>
          <a:solidFill>
            <a:srgbClr val="00B4D8"/>
          </a:solidFill>
          <a:ln w="12700" cap="flat" cmpd="sng">
            <a:solidFill>
              <a:srgbClr val="00B4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274345" y="483000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Tecnicatura en Ciencia de Datos e IA  |  CPS Malvinas Argentinas  |  2026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15"/>
          <p:cNvGrpSpPr/>
          <p:nvPr/>
        </p:nvGrpSpPr>
        <p:grpSpPr>
          <a:xfrm>
            <a:off x="7476987" y="1823765"/>
            <a:ext cx="1277568" cy="417693"/>
            <a:chOff x="7476987" y="1823765"/>
            <a:chExt cx="1277568" cy="417693"/>
          </a:xfrm>
        </p:grpSpPr>
        <p:pic>
          <p:nvPicPr>
            <p:cNvPr id="119" name="Google Shape;119;p15"/>
            <p:cNvPicPr preferRelativeResize="0"/>
            <p:nvPr/>
          </p:nvPicPr>
          <p:blipFill rotWithShape="1">
            <a:blip r:embed="rId5">
              <a:alphaModFix/>
            </a:blip>
            <a:srcRect l="3001" t="32000" r="77721" b="32000"/>
            <a:stretch/>
          </p:blipFill>
          <p:spPr>
            <a:xfrm>
              <a:off x="7476987" y="1825851"/>
              <a:ext cx="395661" cy="415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5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11787" y="1823765"/>
              <a:ext cx="417693" cy="4176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5"/>
            <p:cNvPicPr preferRelativeResize="0"/>
            <p:nvPr/>
          </p:nvPicPr>
          <p:blipFill rotWithShape="1">
            <a:blip r:embed="rId7">
              <a:alphaModFix/>
            </a:blip>
            <a:srcRect l="15629" r="14862"/>
            <a:stretch/>
          </p:blipFill>
          <p:spPr>
            <a:xfrm>
              <a:off x="8368619" y="1848160"/>
              <a:ext cx="385936" cy="34924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2" name="Google Shape;122;p15"/>
          <p:cNvPicPr preferRelativeResize="0"/>
          <p:nvPr/>
        </p:nvPicPr>
        <p:blipFill rotWithShape="1">
          <a:blip r:embed="rId8">
            <a:alphaModFix/>
          </a:blip>
          <a:srcRect l="16255" t="28685" r="16217" b="27977"/>
          <a:stretch/>
        </p:blipFill>
        <p:spPr>
          <a:xfrm>
            <a:off x="7348615" y="3262082"/>
            <a:ext cx="1405940" cy="334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9">
            <a:alphaModFix/>
          </a:blip>
          <a:srcRect l="9807" t="8967" r="8790" b="9874"/>
          <a:stretch/>
        </p:blipFill>
        <p:spPr>
          <a:xfrm>
            <a:off x="7914348" y="3970277"/>
            <a:ext cx="412570" cy="411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290119" y="1783363"/>
            <a:ext cx="704455" cy="52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373157" y="2735218"/>
            <a:ext cx="548700" cy="54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" name="Google Shape;126;p15"/>
          <p:cNvGrpSpPr/>
          <p:nvPr/>
        </p:nvGrpSpPr>
        <p:grpSpPr>
          <a:xfrm>
            <a:off x="7389018" y="2566732"/>
            <a:ext cx="1397250" cy="424522"/>
            <a:chOff x="7335652" y="2565303"/>
            <a:chExt cx="1397250" cy="424522"/>
          </a:xfrm>
        </p:grpSpPr>
        <p:pic>
          <p:nvPicPr>
            <p:cNvPr id="127" name="Google Shape;127;p15"/>
            <p:cNvPicPr preferRelativeResize="0"/>
            <p:nvPr/>
          </p:nvPicPr>
          <p:blipFill rotWithShape="1">
            <a:blip r:embed="rId12">
              <a:alphaModFix/>
            </a:blip>
            <a:srcRect l="7797" t="3247" r="8304" b="25329"/>
            <a:stretch/>
          </p:blipFill>
          <p:spPr>
            <a:xfrm>
              <a:off x="7794613" y="2578491"/>
              <a:ext cx="483175" cy="4113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5"/>
            <p:cNvPicPr preferRelativeResize="0"/>
            <p:nvPr/>
          </p:nvPicPr>
          <p:blipFill rotWithShape="1">
            <a:blip r:embed="rId13">
              <a:alphaModFix/>
            </a:blip>
            <a:srcRect l="7488" t="5566" r="11648" b="9565"/>
            <a:stretch/>
          </p:blipFill>
          <p:spPr>
            <a:xfrm>
              <a:off x="8346966" y="2571750"/>
              <a:ext cx="385936" cy="4050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5" descr="Read AI: Meeting Notes - Apps on Google Play"/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335652" y="2565303"/>
              <a:ext cx="395662" cy="3956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1c14cc918_0_2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f1c14cc918_0_2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Metodología y ETL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f1c14cc918_0_2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Cómo se construyó el análisis y qué no cubre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1c14cc918_0_2"/>
          <p:cNvSpPr/>
          <p:nvPr/>
        </p:nvSpPr>
        <p:spPr>
          <a:xfrm>
            <a:off x="411475" y="1051800"/>
            <a:ext cx="8321100" cy="868800"/>
          </a:xfrm>
          <a:prstGeom prst="roundRect">
            <a:avLst>
              <a:gd name="adj" fmla="val 7619"/>
            </a:avLst>
          </a:prstGeom>
          <a:solidFill>
            <a:srgbClr val="1B3A6B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g3f1c14cc918_0_2"/>
          <p:cNvSpPr/>
          <p:nvPr/>
        </p:nvSpPr>
        <p:spPr>
          <a:xfrm>
            <a:off x="594310" y="1028145"/>
            <a:ext cx="79554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Organización del dataset</a:t>
            </a:r>
            <a:endParaRPr sz="1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datos se trabajaron a nivel de </a:t>
            </a:r>
            <a:r>
              <a:rPr lang="en-US" sz="1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semana epidemiológica, año, provincia/departamento y grupo etario.</a:t>
            </a:r>
            <a:endParaRPr sz="11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Esto permitió analizar la evolución temporal, la distribución geográfica y el impacto por edad. </a:t>
            </a:r>
            <a:endParaRPr sz="15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1c14cc918_0_2"/>
          <p:cNvSpPr/>
          <p:nvPr/>
        </p:nvSpPr>
        <p:spPr>
          <a:xfrm>
            <a:off x="411475" y="2006450"/>
            <a:ext cx="1928700" cy="24333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f1c14cc918_0_2"/>
          <p:cNvSpPr/>
          <p:nvPr/>
        </p:nvSpPr>
        <p:spPr>
          <a:xfrm>
            <a:off x="471750" y="3209975"/>
            <a:ext cx="1817100" cy="7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5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1.Fuentes y unidad de análisis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1c14cc918_0_2"/>
          <p:cNvSpPr/>
          <p:nvPr/>
        </p:nvSpPr>
        <p:spPr>
          <a:xfrm>
            <a:off x="411475" y="4546985"/>
            <a:ext cx="8256250" cy="523363"/>
          </a:xfrm>
          <a:prstGeom prst="roundRect">
            <a:avLst>
              <a:gd name="adj" fmla="val 12000"/>
            </a:avLst>
          </a:prstGeom>
          <a:solidFill>
            <a:srgbClr val="FCEFE3"/>
          </a:solidFill>
          <a:ln>
            <a:noFill/>
          </a:ln>
        </p:spPr>
        <p:txBody>
          <a:bodyPr spcFirstLastPara="1" wrap="square" lIns="146000" tIns="36000" rIns="146000" bIns="3600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400" b="1" i="0" u="none" strike="noStrike" cap="non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Limitaciones: </a:t>
            </a:r>
            <a:r>
              <a:rPr lang="en-US" sz="1400" b="0" i="0" u="none" strike="noStrike" cap="none">
                <a:solidFill>
                  <a:srgbClr val="5C3A33"/>
                </a:solidFill>
                <a:latin typeface="Calibri"/>
                <a:ea typeface="Calibri"/>
                <a:cs typeface="Calibri"/>
                <a:sym typeface="Calibri"/>
              </a:rPr>
              <a:t>Análisis descriptivo, no causal · posible subregistro en SNVS 2.0 · agregación semanal pierde granularidad diaria · cobertura 2025 parcial.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3f1c14cc918_0_2"/>
          <p:cNvSpPr/>
          <p:nvPr/>
        </p:nvSpPr>
        <p:spPr>
          <a:xfrm>
            <a:off x="2488650" y="2006451"/>
            <a:ext cx="1928700" cy="24333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1c14cc918_0_2"/>
          <p:cNvSpPr/>
          <p:nvPr/>
        </p:nvSpPr>
        <p:spPr>
          <a:xfrm>
            <a:off x="2697600" y="3396864"/>
            <a:ext cx="15588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5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2. Limpieza de datos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f1c14cc918_0_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26719" y="272867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f1c14cc918_0_2"/>
          <p:cNvSpPr/>
          <p:nvPr/>
        </p:nvSpPr>
        <p:spPr>
          <a:xfrm>
            <a:off x="4783478" y="3662074"/>
            <a:ext cx="1673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3. Visualización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f1c14cc918_0_2"/>
          <p:cNvSpPr/>
          <p:nvPr/>
        </p:nvSpPr>
        <p:spPr>
          <a:xfrm>
            <a:off x="6739025" y="2006450"/>
            <a:ext cx="1928700" cy="24333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1c14cc918_0_2"/>
          <p:cNvSpPr/>
          <p:nvPr/>
        </p:nvSpPr>
        <p:spPr>
          <a:xfrm>
            <a:off x="6899950" y="3479375"/>
            <a:ext cx="16731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5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4. Indicadores calculados</a:t>
            </a:r>
            <a:endParaRPr sz="1500" b="1" i="0" u="none" strike="noStrike" cap="none">
              <a:solidFill>
                <a:srgbClr val="1B3A6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endParaRPr sz="1500" b="1" i="0" u="none" strike="noStrike" cap="none">
              <a:solidFill>
                <a:srgbClr val="1B3A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g3f1c14cc918_0_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9219" y="272867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3f1c14cc918_0_2"/>
          <p:cNvSpPr/>
          <p:nvPr/>
        </p:nvSpPr>
        <p:spPr>
          <a:xfrm>
            <a:off x="4565978" y="3662074"/>
            <a:ext cx="1673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3. Visualización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f1c14cc918_0_2"/>
          <p:cNvSpPr/>
          <p:nvPr/>
        </p:nvSpPr>
        <p:spPr>
          <a:xfrm>
            <a:off x="4613825" y="2006339"/>
            <a:ext cx="1928700" cy="24333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f1c14cc918_0_2"/>
          <p:cNvSpPr/>
          <p:nvPr/>
        </p:nvSpPr>
        <p:spPr>
          <a:xfrm>
            <a:off x="4810425" y="3321726"/>
            <a:ext cx="1673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5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3. Transformación y unión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g3f1c14cc918_0_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375" y="2208088"/>
            <a:ext cx="1238250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f1c14cc918_0_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1263" y="2223213"/>
            <a:ext cx="98107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f1c14cc918_0_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44000" y="2239975"/>
            <a:ext cx="11430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3f1c14cc918_0_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74000" y="2229500"/>
            <a:ext cx="1066800" cy="7715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1b428b7a3_0_5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f1b428b7a3_0_50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Introducción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f1b428b7a3_0_50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Conocimiento de dominio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1b428b7a3_0_50"/>
          <p:cNvSpPr/>
          <p:nvPr/>
        </p:nvSpPr>
        <p:spPr>
          <a:xfrm>
            <a:off x="411475" y="1053325"/>
            <a:ext cx="8321100" cy="754800"/>
          </a:xfrm>
          <a:prstGeom prst="roundRect">
            <a:avLst>
              <a:gd name="adj" fmla="val 7619"/>
            </a:avLst>
          </a:prstGeom>
          <a:solidFill>
            <a:srgbClr val="1B3A6B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f1b428b7a3_0_50"/>
          <p:cNvSpPr/>
          <p:nvPr/>
        </p:nvSpPr>
        <p:spPr>
          <a:xfrm>
            <a:off x="594350" y="1096722"/>
            <a:ext cx="8009400" cy="8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interpretar la evolución del dengue, es clave considerar el ciclo del mosquito y las condiciones ambientales que favorecen su reproducción.</a:t>
            </a:r>
            <a:endParaRPr sz="15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f1b428b7a3_0_50"/>
          <p:cNvSpPr/>
          <p:nvPr/>
        </p:nvSpPr>
        <p:spPr>
          <a:xfrm>
            <a:off x="357475" y="5356458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Fuentes: SNVS 2.0 (casos por semana epidemiológica) · RENAPER (población por provincia y edad, para denominadores) · SMN (temperatura, humedad y precipitación diaria)  |  Período: semanas epidemiológicas 1–52, 2022–2025  |  Alcance: análisis descriptivo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g3f1b428b7a3_0_50" descr="Diagrama  El contenido generado por IA puede ser incorrec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5210" y="1855550"/>
            <a:ext cx="3289990" cy="32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1b428b7a3_0_50"/>
          <p:cNvSpPr/>
          <p:nvPr/>
        </p:nvSpPr>
        <p:spPr>
          <a:xfrm>
            <a:off x="4807800" y="2050925"/>
            <a:ext cx="3537000" cy="2260500"/>
          </a:xfrm>
          <a:prstGeom prst="roundRect">
            <a:avLst>
              <a:gd name="adj" fmla="val 4938"/>
            </a:avLst>
          </a:prstGeom>
          <a:solidFill>
            <a:srgbClr val="1B3A6B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f1b428b7a3_0_50"/>
          <p:cNvSpPr/>
          <p:nvPr/>
        </p:nvSpPr>
        <p:spPr>
          <a:xfrm>
            <a:off x="4886950" y="2193543"/>
            <a:ext cx="2427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lang="en-US" sz="17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Condiciones de estudio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g3f1b428b7a3_0_50"/>
          <p:cNvSpPr/>
          <p:nvPr/>
        </p:nvSpPr>
        <p:spPr>
          <a:xfrm>
            <a:off x="4886950" y="2557350"/>
            <a:ext cx="34578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Tiempo de ciclo de vida</a:t>
            </a: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→ 10 a 15 días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endParaRPr sz="1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endParaRPr sz="12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Mayores precipitaciones + Altas temperaturas</a:t>
            </a: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→Activación de huevos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b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Activación</a:t>
            </a: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→Agua estancada y humedad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1c14cc918_0_31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f1c14cc918_0_31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problema estamos analizando?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1c14cc918_0_31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El desequilibrio que motiva el análisis: </a:t>
            </a:r>
            <a:r>
              <a:rPr lang="en-US" sz="20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Pregunta Guía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f1c14cc918_0_31"/>
          <p:cNvSpPr/>
          <p:nvPr/>
        </p:nvSpPr>
        <p:spPr>
          <a:xfrm>
            <a:off x="411480" y="1143000"/>
            <a:ext cx="8321100" cy="960000"/>
          </a:xfrm>
          <a:prstGeom prst="roundRect">
            <a:avLst>
              <a:gd name="adj" fmla="val 7619"/>
            </a:avLst>
          </a:prstGeom>
          <a:solidFill>
            <a:srgbClr val="1B3A6B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1c14cc918_0_31"/>
          <p:cNvSpPr/>
          <p:nvPr/>
        </p:nvSpPr>
        <p:spPr>
          <a:xfrm>
            <a:off x="594360" y="1188720"/>
            <a:ext cx="7955400" cy="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patrones epidemiológicos son observables en la evolución del dengue en Argentina entre 2022 y 2025?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1c14cc918_0_31"/>
          <p:cNvSpPr/>
          <p:nvPr/>
        </p:nvSpPr>
        <p:spPr>
          <a:xfrm>
            <a:off x="411480" y="2267712"/>
            <a:ext cx="2606100" cy="219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3f1c14cc918_0_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3053" y="2935203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f1c14cc918_0_31"/>
          <p:cNvSpPr/>
          <p:nvPr/>
        </p:nvSpPr>
        <p:spPr>
          <a:xfrm>
            <a:off x="411492" y="3483843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¿Cuándo?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f1c14cc918_0_31"/>
          <p:cNvSpPr/>
          <p:nvPr/>
        </p:nvSpPr>
        <p:spPr>
          <a:xfrm>
            <a:off x="3218688" y="2267712"/>
            <a:ext cx="2606100" cy="219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g3f1c14cc918_0_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70261" y="2935203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g3f1c14cc918_0_31"/>
          <p:cNvSpPr/>
          <p:nvPr/>
        </p:nvSpPr>
        <p:spPr>
          <a:xfrm>
            <a:off x="3218701" y="3483843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¿Dónde?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g3f1c14cc918_0_31"/>
          <p:cNvSpPr/>
          <p:nvPr/>
        </p:nvSpPr>
        <p:spPr>
          <a:xfrm>
            <a:off x="6025896" y="2267712"/>
            <a:ext cx="2606100" cy="2194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g3f1c14cc918_0_3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7469" y="2935203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f1c14cc918_0_31"/>
          <p:cNvSpPr/>
          <p:nvPr/>
        </p:nvSpPr>
        <p:spPr>
          <a:xfrm>
            <a:off x="6025908" y="3483843"/>
            <a:ext cx="2606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600"/>
              <a:buFont typeface="Calibri"/>
              <a:buNone/>
            </a:pPr>
            <a:r>
              <a:rPr lang="en-US" sz="18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¿A quién?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1c14cc918_0_31"/>
          <p:cNvSpPr/>
          <p:nvPr/>
        </p:nvSpPr>
        <p:spPr>
          <a:xfrm>
            <a:off x="411475" y="4663456"/>
            <a:ext cx="8366100" cy="4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Arial"/>
              <a:buNone/>
            </a:pPr>
            <a:r>
              <a:rPr lang="en-US" sz="1100" b="0" i="1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Fuentes: SNVS 2.0 (casos por semana epidemiológica) · RENAPER (población por provincia y edad, para denominadores) · SMN (temperatura, humedad y precipitación diaria)  |  Período: semanas epidemiológicas 1–52, 2022–2025  |  Alcance: análisis descriptivo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"/>
          <p:cNvSpPr/>
          <p:nvPr/>
        </p:nvSpPr>
        <p:spPr>
          <a:xfrm>
            <a:off x="411480" y="7315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Conflicto: La magnitud del brote 2024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Lo que los datos muestran sobre la escala del fenómeno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"/>
          <p:cNvSpPr/>
          <p:nvPr/>
        </p:nvSpPr>
        <p:spPr>
          <a:xfrm>
            <a:off x="411480" y="1097280"/>
            <a:ext cx="192024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/>
          <p:nvPr/>
        </p:nvSpPr>
        <p:spPr>
          <a:xfrm>
            <a:off x="411480" y="1170432"/>
            <a:ext cx="192024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748 mil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"/>
          <p:cNvSpPr/>
          <p:nvPr/>
        </p:nvSpPr>
        <p:spPr>
          <a:xfrm>
            <a:off x="411455" y="1906433"/>
            <a:ext cx="19203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A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2563A8"/>
                </a:solidFill>
                <a:latin typeface="Arial"/>
                <a:ea typeface="Arial"/>
                <a:cs typeface="Arial"/>
                <a:sym typeface="Arial"/>
              </a:rPr>
              <a:t>Casos totales 2022–2025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411480" y="2221992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acumulado histórico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/>
          <p:nvPr/>
        </p:nvSpPr>
        <p:spPr>
          <a:xfrm>
            <a:off x="3566160" y="1110906"/>
            <a:ext cx="192024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"/>
          <p:cNvSpPr/>
          <p:nvPr/>
        </p:nvSpPr>
        <p:spPr>
          <a:xfrm>
            <a:off x="3566160" y="1184058"/>
            <a:ext cx="1920240" cy="754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582 mil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3566160" y="1906434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A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2563A8"/>
                </a:solidFill>
                <a:latin typeface="Arial"/>
                <a:ea typeface="Arial"/>
                <a:cs typeface="Arial"/>
                <a:sym typeface="Arial"/>
              </a:rPr>
              <a:t>Solo en 2024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3566160" y="2235618"/>
            <a:ext cx="192024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78% del total en un año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6720840" y="1097280"/>
            <a:ext cx="1920240" cy="137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6812280" y="1191020"/>
            <a:ext cx="19203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390%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6583680" y="189280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A8"/>
              </a:buClr>
              <a:buSzPts val="1100"/>
              <a:buFont typeface="Arial"/>
              <a:buNone/>
            </a:pPr>
            <a:r>
              <a:rPr lang="en-US" sz="1300" b="0" i="0" u="none" strike="noStrike" cap="none">
                <a:solidFill>
                  <a:srgbClr val="2563A8"/>
                </a:solidFill>
                <a:latin typeface="Arial"/>
                <a:ea typeface="Arial"/>
                <a:cs typeface="Arial"/>
                <a:sym typeface="Arial"/>
              </a:rPr>
              <a:t>Escala 2022→2024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6675130" y="2189992"/>
            <a:ext cx="19203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de 1.500 a 582.000 casos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411480" y="26334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lang="en-US" sz="15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Evolución por año — el problema que crece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777240" y="4297680"/>
            <a:ext cx="118872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502920" y="40050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 mil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502920" y="462687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2022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2834640" y="4000500"/>
            <a:ext cx="1188720" cy="342900"/>
          </a:xfrm>
          <a:prstGeom prst="rect">
            <a:avLst/>
          </a:prstGeom>
          <a:solidFill>
            <a:srgbClr val="2563A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"/>
          <p:cNvSpPr/>
          <p:nvPr/>
        </p:nvSpPr>
        <p:spPr>
          <a:xfrm>
            <a:off x="2560320" y="37078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3A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2563A8"/>
                </a:solidFill>
                <a:latin typeface="Calibri"/>
                <a:ea typeface="Calibri"/>
                <a:cs typeface="Calibri"/>
                <a:sym typeface="Calibri"/>
              </a:rPr>
              <a:t>147 mil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2560320" y="4645145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4892040" y="2971800"/>
            <a:ext cx="1188720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4617720" y="26791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582 mil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4617720" y="4700020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6949440" y="4297680"/>
            <a:ext cx="118872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6675120" y="40050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18 mil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6675120" y="469995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Arial"/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2025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6949450" y="1566550"/>
            <a:ext cx="276600" cy="2742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1c14cc918_0_5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f1c14cc918_0_53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Temporal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f1c14cc918_0_53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Evolución semanal 2022–2025 · Pico sistemático semanas 12–14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1c14cc918_0_53"/>
          <p:cNvSpPr/>
          <p:nvPr/>
        </p:nvSpPr>
        <p:spPr>
          <a:xfrm>
            <a:off x="6554595" y="1844897"/>
            <a:ext cx="2486700" cy="89610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4" name="Google Shape;234;g3f1c14cc918_0_5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187" y="2183577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g3f1c14cc918_0_53"/>
          <p:cNvSpPr/>
          <p:nvPr/>
        </p:nvSpPr>
        <p:spPr>
          <a:xfrm>
            <a:off x="7121523" y="2229301"/>
            <a:ext cx="2240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Pico Sem. 12–14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g3f1c14cc918_0_53"/>
          <p:cNvSpPr/>
          <p:nvPr/>
        </p:nvSpPr>
        <p:spPr>
          <a:xfrm>
            <a:off x="6554594" y="2832449"/>
            <a:ext cx="2486700" cy="89610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g3f1c14cc918_0_5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19187" y="2997041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1c14cc918_0_53"/>
          <p:cNvSpPr/>
          <p:nvPr/>
        </p:nvSpPr>
        <p:spPr>
          <a:xfrm>
            <a:off x="7121523" y="2960465"/>
            <a:ext cx="2240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2024 concentra el 78%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f1c14cc918_0_53"/>
          <p:cNvSpPr/>
          <p:nvPr/>
        </p:nvSpPr>
        <p:spPr>
          <a:xfrm>
            <a:off x="6719187" y="3289649"/>
            <a:ext cx="23220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582 mil de los 748 mil casos totales se concentran en un solo año.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f1c14cc918_0_53"/>
          <p:cNvSpPr/>
          <p:nvPr/>
        </p:nvSpPr>
        <p:spPr>
          <a:xfrm>
            <a:off x="6554595" y="3820001"/>
            <a:ext cx="2486700" cy="89610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g3f1c14cc918_0_5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9187" y="3984593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f1c14cc918_0_53"/>
          <p:cNvSpPr/>
          <p:nvPr/>
        </p:nvSpPr>
        <p:spPr>
          <a:xfrm>
            <a:off x="7121523" y="3948017"/>
            <a:ext cx="2240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Semana pico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f1c14cc918_0_53"/>
          <p:cNvSpPr/>
          <p:nvPr/>
        </p:nvSpPr>
        <p:spPr>
          <a:xfrm>
            <a:off x="6719187" y="4277201"/>
            <a:ext cx="23220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En el 2024 SE12 hubo 72 mil casos.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1c14cc918_0_53"/>
          <p:cNvSpPr/>
          <p:nvPr/>
        </p:nvSpPr>
        <p:spPr>
          <a:xfrm>
            <a:off x="6554606" y="1388954"/>
            <a:ext cx="2486700" cy="32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Hallazgo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g3f1c14cc918_0_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7650" y="1757575"/>
            <a:ext cx="6279358" cy="26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411480" y="7315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Climático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Relación temporal entre clima y casos en 2024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11480" y="1156927"/>
            <a:ext cx="3906078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200"/>
              <a:buFont typeface="Calibri"/>
              <a:buNone/>
            </a:pPr>
            <a:r>
              <a:rPr lang="en-US" sz="20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Condiciones observadas en SE 12-14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5" name="Google Shape;255;p16"/>
          <p:cNvGrpSpPr/>
          <p:nvPr/>
        </p:nvGrpSpPr>
        <p:grpSpPr>
          <a:xfrm>
            <a:off x="485875" y="1477144"/>
            <a:ext cx="2400704" cy="658368"/>
            <a:chOff x="6601534" y="1463040"/>
            <a:chExt cx="2400704" cy="658368"/>
          </a:xfrm>
        </p:grpSpPr>
        <p:sp>
          <p:nvSpPr>
            <p:cNvPr id="256" name="Google Shape;256;p16"/>
            <p:cNvSpPr/>
            <p:nvPr/>
          </p:nvSpPr>
          <p:spPr>
            <a:xfrm>
              <a:off x="6601534" y="1463040"/>
              <a:ext cx="2400667" cy="658368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>
              <a:solidFill>
                <a:srgbClr val="E8EDF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38100" dir="2700000" algn="bl" rotWithShape="0">
                <a:srgbClr val="000000">
                  <a:alpha val="1294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7" name="Google Shape;257;p16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720406" y="1527048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16"/>
            <p:cNvSpPr/>
            <p:nvPr/>
          </p:nvSpPr>
          <p:spPr>
            <a:xfrm>
              <a:off x="7067878" y="1508760"/>
              <a:ext cx="1934323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000"/>
                <a:buFont typeface="Calibri"/>
                <a:buNone/>
              </a:pPr>
              <a:r>
                <a:rPr lang="en-US" sz="1800" b="1" i="0" u="none" strike="noStrike" cap="none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Temperatura</a:t>
              </a: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6"/>
            <p:cNvSpPr/>
            <p:nvPr/>
          </p:nvSpPr>
          <p:spPr>
            <a:xfrm>
              <a:off x="7067838" y="1741720"/>
              <a:ext cx="193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18-23°C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6"/>
          <p:cNvGrpSpPr/>
          <p:nvPr/>
        </p:nvGrpSpPr>
        <p:grpSpPr>
          <a:xfrm>
            <a:off x="3355450" y="1490471"/>
            <a:ext cx="2400741" cy="658368"/>
            <a:chOff x="6601534" y="2212848"/>
            <a:chExt cx="2400741" cy="658368"/>
          </a:xfrm>
        </p:grpSpPr>
        <p:sp>
          <p:nvSpPr>
            <p:cNvPr id="261" name="Google Shape;261;p16"/>
            <p:cNvSpPr/>
            <p:nvPr/>
          </p:nvSpPr>
          <p:spPr>
            <a:xfrm>
              <a:off x="6601534" y="2212848"/>
              <a:ext cx="2400667" cy="658368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>
              <a:solidFill>
                <a:srgbClr val="E8EDF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38100" dir="2700000" algn="bl" rotWithShape="0">
                <a:srgbClr val="000000">
                  <a:alpha val="1294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2" name="Google Shape;262;p16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720406" y="2276856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3" name="Google Shape;263;p16"/>
            <p:cNvSpPr/>
            <p:nvPr/>
          </p:nvSpPr>
          <p:spPr>
            <a:xfrm>
              <a:off x="7067878" y="2258568"/>
              <a:ext cx="1934323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000"/>
                <a:buFont typeface="Calibri"/>
                <a:buNone/>
              </a:pPr>
              <a:r>
                <a:rPr lang="en-US" sz="1800" b="1" i="0" u="none" strike="noStrike" cap="none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Humedad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6"/>
            <p:cNvSpPr/>
            <p:nvPr/>
          </p:nvSpPr>
          <p:spPr>
            <a:xfrm>
              <a:off x="7067875" y="2510417"/>
              <a:ext cx="1934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70-91%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6"/>
          <p:cNvGrpSpPr/>
          <p:nvPr/>
        </p:nvGrpSpPr>
        <p:grpSpPr>
          <a:xfrm>
            <a:off x="6228608" y="1486288"/>
            <a:ext cx="2400744" cy="658368"/>
            <a:chOff x="2737384" y="1106424"/>
            <a:chExt cx="2400744" cy="658368"/>
          </a:xfrm>
        </p:grpSpPr>
        <p:sp>
          <p:nvSpPr>
            <p:cNvPr id="266" name="Google Shape;266;p16"/>
            <p:cNvSpPr/>
            <p:nvPr/>
          </p:nvSpPr>
          <p:spPr>
            <a:xfrm>
              <a:off x="2737384" y="1106424"/>
              <a:ext cx="2400667" cy="658368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 cap="flat" cmpd="sng">
              <a:solidFill>
                <a:srgbClr val="E8EDF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101600" dist="38100" dir="2700000" algn="bl" rotWithShape="0">
                <a:srgbClr val="000000">
                  <a:alpha val="1294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67" name="Google Shape;267;p16" descr="preencoded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30323" y="1161288"/>
              <a:ext cx="274320" cy="2743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16"/>
            <p:cNvSpPr/>
            <p:nvPr/>
          </p:nvSpPr>
          <p:spPr>
            <a:xfrm>
              <a:off x="3203728" y="1152144"/>
              <a:ext cx="1934323" cy="2560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3A6B"/>
                </a:buClr>
                <a:buSzPts val="1000"/>
                <a:buFont typeface="Calibri"/>
                <a:buNone/>
              </a:pPr>
              <a:r>
                <a:rPr lang="en-US" sz="1800" b="1" i="0" u="none" strike="noStrike" cap="none">
                  <a:solidFill>
                    <a:srgbClr val="1B3A6B"/>
                  </a:solidFill>
                  <a:latin typeface="Calibri"/>
                  <a:ea typeface="Calibri"/>
                  <a:cs typeface="Calibri"/>
                  <a:sym typeface="Calibri"/>
                </a:rPr>
                <a:t>Precipitaciones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6"/>
            <p:cNvSpPr/>
            <p:nvPr/>
          </p:nvSpPr>
          <p:spPr>
            <a:xfrm>
              <a:off x="3203728" y="1412793"/>
              <a:ext cx="19344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Significativas en Semanas previas al pico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16"/>
          <p:cNvGrpSpPr/>
          <p:nvPr/>
        </p:nvGrpSpPr>
        <p:grpSpPr>
          <a:xfrm>
            <a:off x="618680" y="4302833"/>
            <a:ext cx="8340549" cy="767515"/>
            <a:chOff x="6601534" y="3767327"/>
            <a:chExt cx="2400667" cy="915085"/>
          </a:xfrm>
        </p:grpSpPr>
        <p:sp>
          <p:nvSpPr>
            <p:cNvPr id="271" name="Google Shape;271;p16"/>
            <p:cNvSpPr/>
            <p:nvPr/>
          </p:nvSpPr>
          <p:spPr>
            <a:xfrm>
              <a:off x="6601534" y="3767327"/>
              <a:ext cx="2400667" cy="915085"/>
            </a:xfrm>
            <a:prstGeom prst="roundRect">
              <a:avLst>
                <a:gd name="adj" fmla="val 6250"/>
              </a:avLst>
            </a:prstGeom>
            <a:solidFill>
              <a:srgbClr val="1B3A6B"/>
            </a:solidFill>
            <a:ln>
              <a:noFill/>
            </a:ln>
            <a:effectLst>
              <a:outerShdw blurRad="101600" dist="38100" dir="2700000" algn="bl" rotWithShape="0">
                <a:srgbClr val="000000">
                  <a:alpha val="1294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6"/>
            <p:cNvSpPr/>
            <p:nvPr/>
          </p:nvSpPr>
          <p:spPr>
            <a:xfrm>
              <a:off x="6681110" y="3822192"/>
              <a:ext cx="21961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A020"/>
                </a:buClr>
                <a:buSzPts val="1000"/>
                <a:buFont typeface="Calibri"/>
                <a:buNone/>
              </a:pPr>
              <a:r>
                <a:rPr lang="en-US" sz="1600" b="1" i="0" u="none" strike="noStrike" cap="none">
                  <a:solidFill>
                    <a:srgbClr val="E8A020"/>
                  </a:solidFill>
                  <a:latin typeface="Calibri"/>
                  <a:ea typeface="Calibri"/>
                  <a:cs typeface="Calibri"/>
                  <a:sym typeface="Calibri"/>
                </a:rPr>
                <a:t>Límite metodológico</a:t>
              </a:r>
              <a:endPara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6"/>
            <p:cNvSpPr/>
            <p:nvPr/>
          </p:nvSpPr>
          <p:spPr>
            <a:xfrm>
              <a:off x="6682285" y="4151376"/>
              <a:ext cx="2196199" cy="4329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EDF4"/>
                </a:buClr>
                <a:buSzPts val="900"/>
                <a:buFont typeface="Arial"/>
                <a:buNone/>
              </a:pPr>
              <a:r>
                <a:rPr lang="en-US" sz="1200" b="0" i="0" u="none" strike="noStrike" cap="none">
                  <a:solidFill>
                    <a:srgbClr val="E8EDF4"/>
                  </a:solidFill>
                  <a:latin typeface="Arial"/>
                  <a:ea typeface="Arial"/>
                  <a:cs typeface="Arial"/>
                  <a:sym typeface="Arial"/>
                </a:rPr>
                <a:t>Los gráficos muestran coincidencia temporal entre clima y casos. No se establece relación causal, eso requeriría modelos adicionales fuera del alcance de este proyecto.</a:t>
              </a: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4" name="Google Shape;274;p16"/>
          <p:cNvGrpSpPr/>
          <p:nvPr/>
        </p:nvGrpSpPr>
        <p:grpSpPr>
          <a:xfrm>
            <a:off x="126691" y="2307442"/>
            <a:ext cx="8858183" cy="1679131"/>
            <a:chOff x="97730" y="3368634"/>
            <a:chExt cx="8858183" cy="1679131"/>
          </a:xfrm>
        </p:grpSpPr>
        <p:pic>
          <p:nvPicPr>
            <p:cNvPr id="275" name="Google Shape;275;p16"/>
            <p:cNvPicPr preferRelativeResize="0"/>
            <p:nvPr/>
          </p:nvPicPr>
          <p:blipFill rotWithShape="1">
            <a:blip r:embed="rId6">
              <a:alphaModFix/>
            </a:blip>
            <a:srcRect b="50000"/>
            <a:stretch/>
          </p:blipFill>
          <p:spPr>
            <a:xfrm>
              <a:off x="97730" y="3368634"/>
              <a:ext cx="2989028" cy="167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16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057242" y="3368634"/>
              <a:ext cx="2898671" cy="16791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7" name="Google Shape;277;p16"/>
            <p:cNvPicPr preferRelativeResize="0"/>
            <p:nvPr/>
          </p:nvPicPr>
          <p:blipFill rotWithShape="1">
            <a:blip r:embed="rId6">
              <a:alphaModFix/>
            </a:blip>
            <a:srcRect t="49688"/>
            <a:stretch/>
          </p:blipFill>
          <p:spPr>
            <a:xfrm>
              <a:off x="3086758" y="3368634"/>
              <a:ext cx="2970484" cy="16791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ef686ec1b1_1_0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ef686ec1b1_1_0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Geográfico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ef686ec1b1_1_0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Distribución territorial de casos absolutos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ef686ec1b1_1_0"/>
          <p:cNvSpPr/>
          <p:nvPr/>
        </p:nvSpPr>
        <p:spPr>
          <a:xfrm>
            <a:off x="7418375" y="2583025"/>
            <a:ext cx="1633500" cy="1608000"/>
          </a:xfrm>
          <a:prstGeom prst="roundRect">
            <a:avLst>
              <a:gd name="adj" fmla="val 5333"/>
            </a:avLst>
          </a:prstGeom>
          <a:solidFill>
            <a:srgbClr val="1B3A6B"/>
          </a:solidFill>
          <a:ln>
            <a:noFill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ef686ec1b1_1_0"/>
          <p:cNvSpPr/>
          <p:nvPr/>
        </p:nvSpPr>
        <p:spPr>
          <a:xfrm>
            <a:off x="7505375" y="2665225"/>
            <a:ext cx="14817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E8A020"/>
                </a:solidFill>
                <a:latin typeface="Calibri"/>
                <a:ea typeface="Calibri"/>
                <a:cs typeface="Calibri"/>
                <a:sym typeface="Calibri"/>
              </a:rPr>
              <a:t>Distribución territorial  clave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ef686ec1b1_1_0"/>
          <p:cNvSpPr/>
          <p:nvPr/>
        </p:nvSpPr>
        <p:spPr>
          <a:xfrm>
            <a:off x="7614123" y="2966984"/>
            <a:ext cx="13728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Bs. As.</a:t>
            </a: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lidera en casos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absolutos (121 mil).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g3ef686ec1b1_1_0"/>
          <p:cNvPicPr preferRelativeResize="0"/>
          <p:nvPr/>
        </p:nvPicPr>
        <p:blipFill rotWithShape="1">
          <a:blip r:embed="rId3">
            <a:alphaModFix/>
          </a:blip>
          <a:srcRect t="753" r="636"/>
          <a:stretch/>
        </p:blipFill>
        <p:spPr>
          <a:xfrm>
            <a:off x="156925" y="1143060"/>
            <a:ext cx="7196498" cy="3895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1c14cc918_0_74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3f1c14cc918_0_74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Demografía vs. Tasa de Incidencia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3f1c14cc918_0_74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La densidad poblacional no explica el aumento de casos de dengue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1c14cc918_0_74"/>
          <p:cNvSpPr/>
          <p:nvPr/>
        </p:nvSpPr>
        <p:spPr>
          <a:xfrm>
            <a:off x="6550128" y="3081528"/>
            <a:ext cx="25485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Explicación del dashboard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3f1c14cc918_0_74"/>
          <p:cNvSpPr/>
          <p:nvPr/>
        </p:nvSpPr>
        <p:spPr>
          <a:xfrm>
            <a:off x="6573156" y="1231104"/>
            <a:ext cx="2486700" cy="320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Hallazgo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f1c14cc918_0_74"/>
          <p:cNvSpPr/>
          <p:nvPr/>
        </p:nvSpPr>
        <p:spPr>
          <a:xfrm>
            <a:off x="6550125" y="1776404"/>
            <a:ext cx="2548500" cy="2034000"/>
          </a:xfrm>
          <a:prstGeom prst="roundRect">
            <a:avLst>
              <a:gd name="adj" fmla="val 8163"/>
            </a:avLst>
          </a:prstGeom>
          <a:solidFill>
            <a:srgbClr val="F7F9FC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3f1c14cc918_0_74"/>
          <p:cNvSpPr/>
          <p:nvPr/>
        </p:nvSpPr>
        <p:spPr>
          <a:xfrm>
            <a:off x="7132450" y="1891026"/>
            <a:ext cx="1791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1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Demográfico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g3f1c14cc918_0_74"/>
          <p:cNvSpPr/>
          <p:nvPr/>
        </p:nvSpPr>
        <p:spPr>
          <a:xfrm>
            <a:off x="6730101" y="2220209"/>
            <a:ext cx="2106600" cy="1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200" b="0" i="1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“Las provincias del norte concentran los valores 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200" b="0" i="1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más altos, mientras que las más densas, como Buenos Aires, registran tasas bajas.”</a:t>
            </a:r>
            <a:endParaRPr sz="1000" b="0" i="0" u="none" strike="noStrike" cap="non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g3f1c14cc918_0_7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0525" y="1847373"/>
            <a:ext cx="347400" cy="3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g3f1c14cc918_0_7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062" y="1079052"/>
            <a:ext cx="5848350" cy="3914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1c14cc918_0_11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f1c14cc918_0_115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por Grupo Etario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1c14cc918_0_115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Casos absolutos por grupo etario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3" name="Google Shape;313;g3f1c14cc918_0_1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58300"/>
            <a:ext cx="7128520" cy="38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1c14cc918_0_95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f1c14cc918_0_95"/>
          <p:cNvSpPr/>
          <p:nvPr/>
        </p:nvSpPr>
        <p:spPr>
          <a:xfrm>
            <a:off x="411480" y="73152"/>
            <a:ext cx="83211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Impacto por Grupo Etario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f1c14cc918_0_95"/>
          <p:cNvSpPr/>
          <p:nvPr/>
        </p:nvSpPr>
        <p:spPr>
          <a:xfrm>
            <a:off x="411480" y="594360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Casos absolutos vs. tasa de incidencia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g3f1c14cc918_0_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158300"/>
            <a:ext cx="8580174" cy="3589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11480" y="7315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Hallazgos: 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Lo que los datos muestran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11480" y="1115568"/>
            <a:ext cx="3981969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11480" y="1115568"/>
            <a:ext cx="457200" cy="960120"/>
          </a:xfrm>
          <a:prstGeom prst="roundRect">
            <a:avLst>
              <a:gd name="adj" fmla="val 14000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11480" y="1115568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932688" y="1188720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Pico sistemático Sem. Epidemiológica 12-14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932688" y="1463040"/>
            <a:ext cx="35387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Es constante desde 2022 al 2025. Coincide temporalmente con temperaturas de 18 - 23°C y humedad de 70 - 91%.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599432" y="1115568"/>
            <a:ext cx="413308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599432" y="1115568"/>
            <a:ext cx="457200" cy="960120"/>
          </a:xfrm>
          <a:prstGeom prst="roundRect">
            <a:avLst>
              <a:gd name="adj" fmla="val 14000"/>
            </a:avLst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599432" y="1115568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5120640" y="1188720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El norte lidera en tasa; la zona centro en volumen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5120640" y="1463040"/>
            <a:ext cx="35387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Tucumán: 6.304 casos cada 100.000 habitantes. Buenos Aires: 702 casos cada 100.000 habitantes. Analizar sin normalizar invierte la lectura.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11480" y="2240280"/>
            <a:ext cx="3981969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11480" y="2240280"/>
            <a:ext cx="457200" cy="960120"/>
          </a:xfrm>
          <a:prstGeom prst="roundRect">
            <a:avLst>
              <a:gd name="adj" fmla="val 14000"/>
            </a:avLst>
          </a:prstGeom>
          <a:solidFill>
            <a:srgbClr val="C0392B"/>
          </a:solidFill>
          <a:ln w="127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411480" y="224028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932688" y="2313432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2024: brote de escala excepcional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932688" y="2587752"/>
            <a:ext cx="35387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582 mil casos, 78% del acumulado histórico en un año. 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Escala 390% respecto a 2022.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4599432" y="2240280"/>
            <a:ext cx="413308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4599432" y="2240280"/>
            <a:ext cx="457200" cy="960120"/>
          </a:xfrm>
          <a:prstGeom prst="roundRect">
            <a:avLst>
              <a:gd name="adj" fmla="val 14000"/>
            </a:avLst>
          </a:prstGeom>
          <a:solidFill>
            <a:srgbClr val="2563A8"/>
          </a:solidFill>
          <a:ln w="12700" cap="flat" cmpd="sng">
            <a:solidFill>
              <a:srgbClr val="2563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4599432" y="2240280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5120640" y="2313432"/>
            <a:ext cx="353872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Grupo 25-34 lidera en tasa etaria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5120640" y="2587752"/>
            <a:ext cx="35387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 rango etario de 45-65 años lidera en valores absolutos. Al normalizar por población, el orden cambia. El mismo patrón que observamos con las provincias.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411480" y="3364992"/>
            <a:ext cx="83210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 cap="flat" cmpd="sng">
            <a:solidFill>
              <a:srgbClr val="E8EDF4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2700000" algn="bl" rotWithShape="0">
              <a:srgbClr val="000000">
                <a:alpha val="12941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11480" y="3364992"/>
            <a:ext cx="457200" cy="960120"/>
          </a:xfrm>
          <a:prstGeom prst="roundRect">
            <a:avLst>
              <a:gd name="adj" fmla="val 14000"/>
            </a:avLst>
          </a:prstGeom>
          <a:solidFill>
            <a:srgbClr val="1B3A6B"/>
          </a:solidFill>
          <a:ln w="12700" cap="flat" cmpd="sng">
            <a:solidFill>
              <a:srgbClr val="1B3A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11480" y="3364992"/>
            <a:ext cx="457200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941832" y="3438144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A6B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1B3A6B"/>
                </a:solidFill>
                <a:latin typeface="Calibri"/>
                <a:ea typeface="Calibri"/>
                <a:cs typeface="Calibri"/>
                <a:sym typeface="Calibri"/>
              </a:rPr>
              <a:t>Densidad poblacional no explica la incidencia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941832" y="3712464"/>
            <a:ext cx="765569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Arial"/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 relación entre densidad y tasa no muestra correlación directa. Las provincias del norte tienen los valores más altos con densidades medias. El patrón observado parece más asociado a diferencias territoriales que a densidad poblacional.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274345" y="483000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Tecnicatura en Ciencia de Datos e IA  |  CPS Malvinas Argentinas  |  2026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0"/>
          <p:cNvSpPr/>
          <p:nvPr/>
        </p:nvSpPr>
        <p:spPr>
          <a:xfrm>
            <a:off x="457200" y="393310"/>
            <a:ext cx="5486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000"/>
              <a:buFont typeface="Arial"/>
              <a:buNone/>
            </a:pPr>
            <a:r>
              <a:rPr lang="en-US" sz="16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457200" y="6858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responden los datos a la pregunta guía?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457200" y="2260046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960120" y="2144280"/>
            <a:ext cx="7526038" cy="58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050"/>
              <a:buFont typeface="Arial"/>
              <a:buNone/>
            </a:pPr>
            <a:r>
              <a:rPr lang="en-US" sz="1400" b="0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El dengue en Argentina muestra un pico estacional sistemático en semanas 12–14, observable en todos los años analizados y coincidente con temperaturas de 18–23°C y humedad elevada.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457200" y="3012858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960119" y="2907052"/>
            <a:ext cx="7526037" cy="586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050"/>
              <a:buFont typeface="Arial"/>
              <a:buNone/>
            </a:pPr>
            <a:r>
              <a:rPr lang="en-US" sz="1400" b="0" i="0" u="none" strike="noStrike" cap="none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La distribución geográfica se concentra en el norte del país por tasa de incidencia, Tucumán 9 veces sobre Buenos Aires, aunque el volumen absoluto aparece distribuido de otra manera.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460847" y="3803982"/>
            <a:ext cx="3474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960120" y="3764184"/>
            <a:ext cx="7526036" cy="426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EDF4"/>
              </a:buClr>
              <a:buSzPts val="105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grupo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casos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tiene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en total no es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más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afectado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por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habitante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: ese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lugar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lo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ocupa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rango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 de 25 a 34 </a:t>
            </a:r>
            <a:r>
              <a:rPr lang="en-US" sz="1400" b="0" i="0" u="none" strike="noStrike" cap="none" dirty="0" err="1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años</a:t>
            </a:r>
            <a:r>
              <a:rPr lang="en-US" sz="1400" b="0" i="0" u="none" strike="noStrike" cap="none" dirty="0">
                <a:solidFill>
                  <a:srgbClr val="E8EDF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10"/>
          <p:cNvCxnSpPr/>
          <p:nvPr/>
        </p:nvCxnSpPr>
        <p:spPr>
          <a:xfrm>
            <a:off x="378258" y="4731526"/>
            <a:ext cx="8229600" cy="0"/>
          </a:xfrm>
          <a:prstGeom prst="straightConnector1">
            <a:avLst/>
          </a:prstGeom>
          <a:noFill/>
          <a:ln w="9525" cap="flat" cmpd="sng">
            <a:solidFill>
              <a:srgbClr val="E8A02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71" name="Google Shape;37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9744" y="0"/>
            <a:ext cx="1868271" cy="186827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0"/>
          <p:cNvSpPr/>
          <p:nvPr/>
        </p:nvSpPr>
        <p:spPr>
          <a:xfrm>
            <a:off x="478950" y="1342750"/>
            <a:ext cx="69699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000"/>
              <a:buFont typeface="Arial"/>
              <a:buNone/>
            </a:pPr>
            <a:r>
              <a:rPr lang="en-US" sz="1900" b="0" i="0" u="none" strike="noStrike" cap="none">
                <a:solidFill>
                  <a:srgbClr val="E8A020"/>
                </a:solidFill>
                <a:latin typeface="Arial"/>
                <a:ea typeface="Arial"/>
                <a:cs typeface="Arial"/>
                <a:sym typeface="Arial"/>
              </a:rPr>
              <a:t>¿Qué patrones epidemiológicos son observables en la evolución del dengue en Argentina entre 2022 y 2025?</a:t>
            </a:r>
            <a:endParaRPr sz="3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274345" y="4830005"/>
            <a:ext cx="8595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BB5"/>
              </a:buClr>
              <a:buSzPts val="900"/>
              <a:buFont typeface="Calibri"/>
              <a:buNone/>
            </a:pPr>
            <a:r>
              <a:rPr lang="en-US" sz="1200" b="0" i="0" u="none" strike="noStrike" cap="none">
                <a:solidFill>
                  <a:srgbClr val="8A9BB5"/>
                </a:solidFill>
                <a:latin typeface="Calibri"/>
                <a:ea typeface="Calibri"/>
                <a:cs typeface="Calibri"/>
                <a:sym typeface="Calibri"/>
              </a:rPr>
              <a:t>Tecnicatura en Ciencia de Datos e IA  |  CPS Malvinas Argentinas  |  2026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1103</Words>
  <Application>Microsoft Office PowerPoint</Application>
  <PresentationFormat>On-screen Show (16:9)</PresentationFormat>
  <Paragraphs>174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Juan Pablo Monllor</cp:lastModifiedBy>
  <cp:revision>6</cp:revision>
  <dcterms:created xsi:type="dcterms:W3CDTF">2026-06-12T01:26:35Z</dcterms:created>
  <dcterms:modified xsi:type="dcterms:W3CDTF">2026-06-29T15:26:04Z</dcterms:modified>
</cp:coreProperties>
</file>